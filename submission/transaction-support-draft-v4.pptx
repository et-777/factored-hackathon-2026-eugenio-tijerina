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cd3cbba73248f8" /><Relationship Type="http://schemas.openxmlformats.org/officeDocument/2006/relationships/extended-properties" Target="/docProps/app.xml" Id="R4ae0cf47fc4a4829" /><Relationship Type="http://schemas.openxmlformats.org/officeDocument/2006/relationships/officeDocument" Target="/ppt/presentation.xml" Id="R12c4af6aeb8744de" /></Relationships>
</file>

<file path=ppt/presentation.xml><?xml version="1.0" encoding="utf-8"?>
<p:presentation xmlns:p="http://schemas.openxmlformats.org/presentationml/2006/main">
  <p:sldMasterIdLst>
    <p:sldMasterId xmlns:r="http://schemas.openxmlformats.org/officeDocument/2006/relationships" id="2147483648" r:id="Rd95b8a3d9f414339"/>
  </p:sldMasterIdLst>
  <p:notesMasterIdLst>
    <p:notesMasterId xmlns:r="http://schemas.openxmlformats.org/officeDocument/2006/relationships" r:id="Rdf05260a23c34a15"/>
  </p:notesMasterIdLst>
  <p:sldIdLst>
    <p:sldId xmlns:r="http://schemas.openxmlformats.org/officeDocument/2006/relationships" id="256" r:id="Rf3e3568e4fad4573"/>
    <p:sldId xmlns:r="http://schemas.openxmlformats.org/officeDocument/2006/relationships" id="257" r:id="R2e62cc02d7b54de1"/>
    <p:sldId xmlns:r="http://schemas.openxmlformats.org/officeDocument/2006/relationships" id="258" r:id="R931a99dc70ff40a4"/>
    <p:sldId xmlns:r="http://schemas.openxmlformats.org/officeDocument/2006/relationships" id="259" r:id="R5c4c25d67b644ab3"/>
    <p:sldId xmlns:r="http://schemas.openxmlformats.org/officeDocument/2006/relationships" id="260" r:id="R8ad7146eaea049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1d1b71c4da4529" /><Relationship Type="http://schemas.openxmlformats.org/officeDocument/2006/relationships/slideMaster" Target="/ppt/slideMasters/slideMaster1.xml" Id="Rd95b8a3d9f414339" /><Relationship Type="http://schemas.openxmlformats.org/officeDocument/2006/relationships/notesMaster" Target="/ppt/notesMasters/notesMaster1.xml" Id="Rdf05260a23c34a15" /><Relationship Type="http://schemas.openxmlformats.org/officeDocument/2006/relationships/presProps" Target="/ppt/presProps.xml" Id="R095a7916e12742c0" /><Relationship Type="http://schemas.openxmlformats.org/officeDocument/2006/relationships/tableStyles" Target="/ppt/tableStyles.xml" Id="R5d23f76886f249cc" /><Relationship Type="http://schemas.openxmlformats.org/officeDocument/2006/relationships/slide" Target="/ppt/slides/slide1.xml" Id="Rf3e3568e4fad4573" /><Relationship Type="http://schemas.openxmlformats.org/officeDocument/2006/relationships/slide" Target="/ppt/slides/slide2.xml" Id="R2e62cc02d7b54de1" /><Relationship Type="http://schemas.openxmlformats.org/officeDocument/2006/relationships/slide" Target="/ppt/slides/slide3.xml" Id="R931a99dc70ff40a4" /><Relationship Type="http://schemas.openxmlformats.org/officeDocument/2006/relationships/slide" Target="/ppt/slides/slide4.xml" Id="R5c4c25d67b644ab3" /><Relationship Type="http://schemas.openxmlformats.org/officeDocument/2006/relationships/slide" Target="/ppt/slides/slide5.xml" Id="R8ad7146eaea049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d099477b2042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b1521fe264fe4" /><Relationship Type="http://schemas.openxmlformats.org/officeDocument/2006/relationships/notesMaster" Target="/ppt/notesMasters/notesMaster1.xml" Id="Re951e31ea3bc4d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9f2b711bb448b7" /><Relationship Type="http://schemas.openxmlformats.org/officeDocument/2006/relationships/notesMaster" Target="/ppt/notesMasters/notesMaster1.xml" Id="Rd5b4ba0e9bfc45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8e521f002340ca" /><Relationship Type="http://schemas.openxmlformats.org/officeDocument/2006/relationships/notesMaster" Target="/ppt/notesMasters/notesMaster1.xml" Id="R5b8d9fd908b641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c662e70b8d4397" /><Relationship Type="http://schemas.openxmlformats.org/officeDocument/2006/relationships/notesMaster" Target="/ppt/notesMasters/notesMaster1.xml" Id="R68dcf70fbfb4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0a0b4ebbfc44d1" /><Relationship Type="http://schemas.openxmlformats.org/officeDocument/2006/relationships/notesMaster" Target="/ppt/notesMasters/notesMaster1.xml" Id="Rcb288f6f779441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explain a recorded charge and give a traceable next step. Scope rationale comes from supplied synthetic data, not real-bank demand. Current owner/currency joins are consistent; chronology-conflicting records are quarantined. No measured business gain is claimed. Sources: docs/scope.md; docs/local_data_review.md; evidence/local_contacts_summary.json; evidence/local_transactions_summary.json.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a current local fictional-demo review form. Preparation and final confirmation are separate decisions; accepting preparation saves nothing. Persistence and readback must agree before success. A verified ticket is simulated intake, not refund adjudication or bank action; a handoff receipt is a simulated queue entry, not human contact. Exact PT prompt: Quero falar com uma pessoa sobre a compra que não reconheço. Sources: docs/local_ui.md; docs/local_workflow.md; bank_service/demo_fixtures.py; docs/submission_video_script.md.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learned experiment: character 3–5 n-grams, Naive Bayes, alpha 1, 144 balanced authored TRAIN messages and four intents. Keyword baseline shares records, workflow, templates and scorer. Full transcript tags: 171321/171321 Spanish. All 42/42 normalized text groups have conflicting topic labels. Bounded inventory:1098 rows/42 variants, two balance-request opening families outside this workflow. Organizer permission supports justified authored ES/PT messages grounded in supplied transactions and separately labeled simulated faults. Historical records and authored messages remain distinct. Current guarded learned serving is unscored; keyword is default. Sources: docs/source_intent_inventory.md; docs/requirements.md; docs/final_workflow_protocol.md; docs/post_audit_repairs.md.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evidence is preserved, including failed qualification. Each system attempted32 component probes and48 fresh HTTP journeys:16 service plus8 safety journeys per language. Small balanced authored samples and one50-record cohort constrain generalization; figures are not production rates. Current engineering checks are separate from held-out evaluation. The earlier native-reference repair reached all8 intended safety conditions in32 invented journeys; this is regression evidence. Delivery-stage engineering checks include751 original-plus-hosting/package tests followed by the effective Docker directory-closure regression, yielding752 total after final verification. Four installed learned workflows coverv1/v2×ES/PT; two installed hosted keyword workflows coverES/PT with manually forwarded Secure cookies under a fake TLS boundary. Real container execution/cloud HTTPS remain unverified. Sources: docs/final_workflow_results.md; evidence/final_workflow_results_v1.json; docs/post_final_lookup_repair.md; docs/post_audit_repairs.md; docs/deployment_readiness.md.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is prepared locally, not completed. Repository is currently private; no public judge access, hosted URL or recorded video is claimed. Recommended deployment: Render Free with a private reviewed runtime-only release repository, one canonical HTTPS origin, no payment method, ephemeral receipts. Cold starts may take about one minute after fifteen minutes idle. No production login or banking action. No automatic-resolution/escalation gain, production cost/scale, or qualified guarded-model performance is claimed. Sources: README.md; docs/deployment.md; docs/submission_video_script.md; https://render.com/docs/free; https://render.com/docs/faq. Replace pending statuses only after real access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7488d3a2004c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cc1252d09549be" /><Relationship Type="http://schemas.openxmlformats.org/officeDocument/2006/relationships/slideLayout" Target="/ppt/slideLayouts/slideLayout1.xml" Id="R3a1576bbd525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1576bbd525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7e8e23ab5945a5" /><Relationship Type="http://schemas.openxmlformats.org/officeDocument/2006/relationships/notesSlide" Target="/ppt/notesSlides/notesSlide1.xml" Id="R59997111c04b4c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4f0c87504c4f01" /><Relationship Type="http://schemas.openxmlformats.org/officeDocument/2006/relationships/image" Target="/ppt/media/image.png" Id="R7c2c6daadf6b4b36" /><Relationship Type="http://schemas.openxmlformats.org/officeDocument/2006/relationships/notesSlide" Target="/ppt/notesSlides/notesSlide2.xml" Id="R31857c75069642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dde63471d04709" /><Relationship Type="http://schemas.openxmlformats.org/officeDocument/2006/relationships/notesSlide" Target="/ppt/notesSlides/notesSlide3.xml" Id="Re665b9926a5f45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3f1d8617924b97" /><Relationship Type="http://schemas.openxmlformats.org/officeDocument/2006/relationships/notesSlide" Target="/ppt/notesSlides/notesSlide4.xml" Id="Ra5c1c5d9948a49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e7907188584876" /><Relationship Type="http://schemas.openxmlformats.org/officeDocument/2006/relationships/notesSlide" Target="/ppt/notesSlides/notesSlide5.xml" Id="Ra795618258c1443b" /></Relationships>
</file>

<file path=ppt/slides/slide1.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10" name="FACTORED AI &amp; DATA HACKATHON 2026">
            <a:extLst xmlns:a="http://schemas.openxmlformats.org/drawingml/2006/main">
              <a:ext uri="{FF2B5EF4-FFF2-40B4-BE49-F238E27FC236}">
                <a16:creationId xmlns:a16="http://schemas.microsoft.com/office/drawing/2014/main" id="{3C33B775-8B0D-4658-AE12-92125A1326AF}"/>
              </a:ext>
            </a:extLst>
          </p:cNvPr>
          <p:cNvSpPr>
            <a:spLocks xmlns:a="http://schemas.openxmlformats.org/drawingml/2006/main" noGrp="1"/>
          </p:cNvSpPr>
          <p:nvPr/>
        </p:nvSpPr>
        <p:spPr>
          <a:xfrm xmlns:a="http://schemas.openxmlformats.org/drawingml/2006/main">
            <a:off x="609600" y="3810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9BCDD"/>
                </a:solidFill>
                <a:latin typeface="Arial"/>
                <a:ea typeface="Arial"/>
                <a:cs typeface="Arial"/>
              </a:defRPr>
            </a:pPr>
            <a:r>
              <a:rPr sz="1425" b="0">
                <a:solidFill>
                  <a:srgbClr val="A9BCDD"/>
                </a:solidFill>
                <a:latin typeface="Arial"/>
                <a:ea typeface="Arial"/>
                <a:cs typeface="Arial"/>
              </a:rPr>
              <a:t>FACTORED AI &amp; DATA HACKATHON 2026</a:t>
            </a:r>
          </a:p>
        </p:txBody>
      </p:sp>
      <p:sp>
        <p:nvSpPr>
          <p:cNvPr id="2" name="Transaction&#10;Support Assistant">
            <a:extLst xmlns:a="http://schemas.openxmlformats.org/drawingml/2006/main">
              <a:ext uri="{FF2B5EF4-FFF2-40B4-BE49-F238E27FC236}">
                <a16:creationId xmlns:a16="http://schemas.microsoft.com/office/drawing/2014/main" id="{386E1E2D-8F8D-46E4-B2CF-6CA3FD361D03}"/>
              </a:ext>
            </a:extLst>
          </p:cNvPr>
          <p:cNvSpPr>
            <a:spLocks xmlns:a="http://schemas.openxmlformats.org/drawingml/2006/main" noGrp="1"/>
          </p:cNvSpPr>
          <p:nvPr/>
        </p:nvSpPr>
        <p:spPr>
          <a:xfrm xmlns:a="http://schemas.openxmlformats.org/drawingml/2006/main">
            <a:off x="609600" y="1171575"/>
            <a:ext cx="6305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Transaction</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Support Assistant</a:t>
            </a:r>
          </a:p>
        </p:txBody>
      </p:sp>
      <p:sp>
        <p:nvSpPr>
          <p:cNvPr id="3" name="Spanish and Portuguese charge inquiry,&#10;confirmed intake">
            <a:extLst xmlns:a="http://schemas.openxmlformats.org/drawingml/2006/main">
              <a:ext uri="{FF2B5EF4-FFF2-40B4-BE49-F238E27FC236}">
                <a16:creationId xmlns:a16="http://schemas.microsoft.com/office/drawing/2014/main" id="{48E85194-C0BD-4DBE-8E8F-427D9F84A6DF}"/>
              </a:ext>
            </a:extLst>
          </p:cNvPr>
          <p:cNvSpPr>
            <a:spLocks xmlns:a="http://schemas.openxmlformats.org/drawingml/2006/main" noGrp="1"/>
          </p:cNvSpPr>
          <p:nvPr/>
        </p:nvSpPr>
        <p:spPr>
          <a:xfrm xmlns:a="http://schemas.openxmlformats.org/drawingml/2006/main">
            <a:off x="609600" y="3028950"/>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FE8F7"/>
                </a:solidFill>
                <a:latin typeface="Arial"/>
                <a:ea typeface="Arial"/>
                <a:cs typeface="Arial"/>
              </a:defRPr>
            </a:pPr>
            <a:r>
              <a:rPr sz="2100" b="0">
                <a:solidFill>
                  <a:srgbClr val="DFE8F7"/>
                </a:solidFill>
                <a:latin typeface="Arial"/>
                <a:ea typeface="Arial"/>
                <a:cs typeface="Arial"/>
              </a:rPr>
              <a:t>Spanish and Portuguese charge inquiry,</a:t>
            </a:r>
          </a:p>
          <a:p xmlns:a="http://schemas.openxmlformats.org/drawingml/2006/main">
            <a:pPr>
              <a:defRPr sz="2100" b="0">
                <a:solidFill>
                  <a:srgbClr val="DFE8F7"/>
                </a:solidFill>
                <a:latin typeface="Arial"/>
                <a:ea typeface="Arial"/>
                <a:cs typeface="Arial"/>
              </a:defRPr>
            </a:pPr>
            <a:r>
              <a:rPr sz="2100" b="0">
                <a:solidFill>
                  <a:srgbClr val="DFE8F7"/>
                </a:solidFill>
                <a:latin typeface="Arial"/>
                <a:ea typeface="Arial"/>
                <a:cs typeface="Arial"/>
              </a:rPr>
              <a:t>confirmed intake and useful human review</a:t>
            </a:r>
          </a:p>
        </p:txBody>
      </p:sp>
      <p:sp>
        <p:nvSpPr>
          <p:cNvPr id="4" name="34.98%">
            <a:extLst xmlns:a="http://schemas.openxmlformats.org/drawingml/2006/main">
              <a:ext uri="{FF2B5EF4-FFF2-40B4-BE49-F238E27FC236}">
                <a16:creationId xmlns:a16="http://schemas.microsoft.com/office/drawing/2014/main" id="{B64AB6B8-5966-42E9-9C74-80348BE3B569}"/>
              </a:ext>
            </a:extLst>
          </p:cNvPr>
          <p:cNvSpPr>
            <a:spLocks xmlns:a="http://schemas.openxmlformats.org/drawingml/2006/main" noGrp="1"/>
          </p:cNvSpPr>
          <p:nvPr/>
        </p:nvSpPr>
        <p:spPr>
          <a:xfrm xmlns:a="http://schemas.openxmlformats.org/drawingml/2006/main">
            <a:off x="7581900" y="1257300"/>
            <a:ext cx="3905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77A7FF"/>
                </a:solidFill>
                <a:latin typeface="Arial"/>
                <a:ea typeface="Arial"/>
                <a:cs typeface="Arial"/>
              </a:defRPr>
            </a:pPr>
            <a:r>
              <a:rPr sz="6600" b="1">
                <a:solidFill>
                  <a:srgbClr val="77A7FF"/>
                </a:solidFill>
                <a:latin typeface="Arial"/>
                <a:ea typeface="Arial"/>
                <a:cs typeface="Arial"/>
              </a:rPr>
              <a:t>34.98%</a:t>
            </a:r>
          </a:p>
        </p:txBody>
      </p:sp>
      <p:sp>
        <p:nvSpPr>
          <p:cNvPr id="5" name="Transactional contacts&#10;240,056 / 686,296 contacts&#10;Suppl">
            <a:extLst xmlns:a="http://schemas.openxmlformats.org/drawingml/2006/main">
              <a:ext uri="{FF2B5EF4-FFF2-40B4-BE49-F238E27FC236}">
                <a16:creationId xmlns:a16="http://schemas.microsoft.com/office/drawing/2014/main" id="{C7871435-5446-43F0-8C52-4CA7645EFDAE}"/>
              </a:ext>
            </a:extLst>
          </p:cNvPr>
          <p:cNvSpPr>
            <a:spLocks xmlns:a="http://schemas.openxmlformats.org/drawingml/2006/main" noGrp="1"/>
          </p:cNvSpPr>
          <p:nvPr/>
        </p:nvSpPr>
        <p:spPr>
          <a:xfrm xmlns:a="http://schemas.openxmlformats.org/drawingml/2006/main">
            <a:off x="7581900" y="2428875"/>
            <a:ext cx="3905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Transactional contacts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240,056 / 686,296 contacts</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Supplied synthetic corpus</a:t>
            </a:r>
          </a:p>
        </p:txBody>
      </p:sp>
      <p:sp>
        <p:nvSpPr>
          <p:cNvPr id="6" name="Source audit: 4,425,008 transaction rows;&#10;1,450,689 chr">
            <a:extLst xmlns:a="http://schemas.openxmlformats.org/drawingml/2006/main">
              <a:ext uri="{FF2B5EF4-FFF2-40B4-BE49-F238E27FC236}">
                <a16:creationId xmlns:a16="http://schemas.microsoft.com/office/drawing/2014/main" id="{13A51DBD-E7F2-4F61-81DB-CC393A2A9B96}"/>
              </a:ext>
            </a:extLst>
          </p:cNvPr>
          <p:cNvSpPr>
            <a:spLocks xmlns:a="http://schemas.openxmlformats.org/drawingml/2006/main" noGrp="1"/>
          </p:cNvSpPr>
          <p:nvPr/>
        </p:nvSpPr>
        <p:spPr>
          <a:xfrm xmlns:a="http://schemas.openxmlformats.org/drawingml/2006/main">
            <a:off x="609600" y="43815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Source audit: 4,425,008 transaction rows;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1,450,689 chronology conflicts (32.78%) require quarantine</a:t>
            </a:r>
          </a:p>
        </p:txBody>
      </p:sp>
      <p:sp>
        <p:nvSpPr>
          <p:cNvPr id="7" name="Private workflow: validated 50-record cohort&#10;Public pro">
            <a:extLst xmlns:a="http://schemas.openxmlformats.org/drawingml/2006/main">
              <a:ext uri="{FF2B5EF4-FFF2-40B4-BE49-F238E27FC236}">
                <a16:creationId xmlns:a16="http://schemas.microsoft.com/office/drawing/2014/main" id="{5BC20922-BBE3-48A4-B9F1-0FDBEC3FF21D}"/>
              </a:ext>
            </a:extLst>
          </p:cNvPr>
          <p:cNvSpPr>
            <a:spLocks xmlns:a="http://schemas.openxmlformats.org/drawingml/2006/main" noGrp="1"/>
          </p:cNvSpPr>
          <p:nvPr/>
        </p:nvSpPr>
        <p:spPr>
          <a:xfrm xmlns:a="http://schemas.openxmlformats.org/drawingml/2006/main">
            <a:off x="609600" y="53911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BCDD"/>
                </a:solidFill>
                <a:latin typeface="Arial"/>
                <a:ea typeface="Arial"/>
                <a:cs typeface="Arial"/>
              </a:defRPr>
            </a:pPr>
            <a:r>
              <a:rPr sz="1875" b="0">
                <a:solidFill>
                  <a:srgbClr val="A9BCDD"/>
                </a:solidFill>
                <a:latin typeface="Arial"/>
                <a:ea typeface="Arial"/>
                <a:cs typeface="Arial"/>
              </a:rPr>
              <a:t>Private workflow: validated 50-record cohort</a:t>
            </a:r>
          </a:p>
          <a:p xmlns:a="http://schemas.openxmlformats.org/drawingml/2006/main">
            <a:pPr>
              <a:defRPr sz="1875" b="0">
                <a:solidFill>
                  <a:srgbClr val="A9BCDD"/>
                </a:solidFill>
                <a:latin typeface="Arial"/>
                <a:ea typeface="Arial"/>
                <a:cs typeface="Arial"/>
              </a:defRPr>
            </a:pPr>
            <a:r>
              <a:rPr sz="1875" b="0">
                <a:solidFill>
                  <a:srgbClr val="A9BCDD"/>
                </a:solidFill>
                <a:latin typeface="Arial"/>
                <a:ea typeface="Arial"/>
                <a:cs typeface="Arial"/>
              </a:rPr>
              <a:t>Public prototype: independently authored fictional records</a:t>
            </a:r>
          </a:p>
        </p:txBody>
      </p:sp>
      <p:sp>
        <p:nvSpPr>
          <p:cNvPr id="8" name="Sources: docs/scope.md · docs/local_data_review.md · ev">
            <a:extLst xmlns:a="http://schemas.openxmlformats.org/drawingml/2006/main">
              <a:ext uri="{FF2B5EF4-FFF2-40B4-BE49-F238E27FC236}">
                <a16:creationId xmlns:a16="http://schemas.microsoft.com/office/drawing/2014/main" id="{408BF04A-57D7-4302-B0F5-1609A1126BBB}"/>
              </a:ext>
            </a:extLst>
          </p:cNvPr>
          <p:cNvSpPr>
            <a:spLocks xmlns:a="http://schemas.openxmlformats.org/drawingml/2006/main" noGrp="1"/>
          </p:cNvSpPr>
          <p:nvPr/>
        </p:nvSpPr>
        <p:spPr>
          <a:xfrm xmlns:a="http://schemas.openxmlformats.org/drawingml/2006/main">
            <a:off x="609600" y="645795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9BCDD"/>
                </a:solidFill>
                <a:latin typeface="Arial"/>
                <a:ea typeface="Arial"/>
                <a:cs typeface="Arial"/>
              </a:defRPr>
            </a:pPr>
            <a:r>
              <a:rPr sz="1050" b="0">
                <a:solidFill>
                  <a:srgbClr val="A9BCDD"/>
                </a:solidFill>
                <a:latin typeface="Arial"/>
                <a:ea typeface="Arial"/>
                <a:cs typeface="Arial"/>
              </a:rPr>
              <a:t>Sources: docs/scope.md · docs/local_data_review.md · evidence/local_contacts_summary.json</a:t>
            </a:r>
          </a:p>
        </p:txBody>
      </p:sp>
      <p:sp>
        <p:nvSpPr>
          <p:cNvPr id="9" name="1 / 5">
            <a:extLst xmlns:a="http://schemas.openxmlformats.org/drawingml/2006/main">
              <a:ext uri="{FF2B5EF4-FFF2-40B4-BE49-F238E27FC236}">
                <a16:creationId xmlns:a16="http://schemas.microsoft.com/office/drawing/2014/main" id="{F005918E-7813-4474-832E-9AFEEDDF883D}"/>
              </a:ext>
            </a:extLst>
          </p:cNvPr>
          <p:cNvSpPr>
            <a:spLocks xmlns:a="http://schemas.openxmlformats.org/drawingml/2006/main" noGrp="1"/>
          </p:cNvSpPr>
          <p:nvPr/>
        </p:nvSpPr>
        <p:spPr>
          <a:xfrm xmlns:a="http://schemas.openxmlformats.org/drawingml/2006/main">
            <a:off x="10991850" y="6457950"/>
            <a:ext cx="68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9BCDD"/>
                </a:solidFill>
                <a:latin typeface="Arial"/>
                <a:ea typeface="Arial"/>
                <a:cs typeface="Arial"/>
              </a:defRPr>
            </a:pPr>
            <a:r>
              <a:rPr sz="1050" b="0">
                <a:solidFill>
                  <a:srgbClr val="A9BCDD"/>
                </a:solidFill>
                <a:latin typeface="Arial"/>
                <a:ea typeface="Arial"/>
                <a:cs typeface="Arial"/>
              </a:rPr>
              <a:t>1 / 5</a:t>
            </a:r>
          </a:p>
        </p:txBody>
      </p:sp>
    </p:spTree>
    <p:extLst>
      <p:ext uri="{BB962C8B-B14F-4D97-AF65-F5344CB8AC3E}">
        <p14:creationId xmlns:p14="http://schemas.microsoft.com/office/powerpoint/2010/main" val="7949326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ransaction inquiry and confirmed review">
            <a:extLst xmlns:a="http://schemas.openxmlformats.org/drawingml/2006/main">
              <a:ext uri="{FF2B5EF4-FFF2-40B4-BE49-F238E27FC236}">
                <a16:creationId xmlns:a16="http://schemas.microsoft.com/office/drawing/2014/main" id="{BAB2D7CF-08CA-4448-BA9D-5AA2C6C97981}"/>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1827"/>
                </a:solidFill>
                <a:latin typeface="Arial"/>
                <a:ea typeface="Arial"/>
                <a:cs typeface="Arial"/>
              </a:defRPr>
            </a:pPr>
            <a:r>
              <a:rPr sz="3150" b="1">
                <a:solidFill>
                  <a:srgbClr val="111827"/>
                </a:solidFill>
                <a:latin typeface="Arial"/>
                <a:ea typeface="Arial"/>
                <a:cs typeface="Arial"/>
              </a:rPr>
              <a:t>Transaction inquiry and confirmed review</a:t>
            </a:r>
          </a:p>
        </p:txBody>
      </p:sp>
      <p:sp>
        <p:nvSpPr>
          <p:cNvPr id="2" name="Sources: docs/local_ui.md · docs/local_workflow.md · ba">
            <a:extLst xmlns:a="http://schemas.openxmlformats.org/drawingml/2006/main">
              <a:ext uri="{FF2B5EF4-FFF2-40B4-BE49-F238E27FC236}">
                <a16:creationId xmlns:a16="http://schemas.microsoft.com/office/drawing/2014/main" id="{BC9C8B76-447C-4E41-B393-562B1A23DF13}"/>
              </a:ext>
            </a:extLst>
          </p:cNvPr>
          <p:cNvSpPr>
            <a:spLocks xmlns:a="http://schemas.openxmlformats.org/drawingml/2006/main" noGrp="1"/>
          </p:cNvSpPr>
          <p:nvPr/>
        </p:nvSpPr>
        <p:spPr>
          <a:xfrm xmlns:a="http://schemas.openxmlformats.org/drawingml/2006/main">
            <a:off x="609600" y="641985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Sources: docs/local_ui.md · docs/local_workflow.md · bank_service/demo_fixtures.py</a:t>
            </a:r>
          </a:p>
        </p:txBody>
      </p:sp>
      <p:sp>
        <p:nvSpPr>
          <p:cNvPr id="3" name="2 / 5">
            <a:extLst xmlns:a="http://schemas.openxmlformats.org/drawingml/2006/main">
              <a:ext uri="{FF2B5EF4-FFF2-40B4-BE49-F238E27FC236}">
                <a16:creationId xmlns:a16="http://schemas.microsoft.com/office/drawing/2014/main" id="{198E6C2A-16E4-453F-9F36-1B58ED905497}"/>
              </a:ext>
            </a:extLst>
          </p:cNvPr>
          <p:cNvSpPr>
            <a:spLocks xmlns:a="http://schemas.openxmlformats.org/drawingml/2006/main" noGrp="1"/>
          </p:cNvSpPr>
          <p:nvPr/>
        </p:nvSpPr>
        <p:spPr>
          <a:xfrm xmlns:a="http://schemas.openxmlformats.org/drawingml/2006/main">
            <a:off x="10991850" y="64198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2 / 5</a:t>
            </a:r>
          </a:p>
        </p:txBody>
      </p:sp>
      <p:sp>
        <p:nvSpPr>
          <p:cNvPr id="4" name="Spanish inquiry → reviewed ticket → Portuguese handoff">
            <a:extLst xmlns:a="http://schemas.openxmlformats.org/drawingml/2006/main">
              <a:ext uri="{FF2B5EF4-FFF2-40B4-BE49-F238E27FC236}">
                <a16:creationId xmlns:a16="http://schemas.microsoft.com/office/drawing/2014/main" id="{42ABCD9A-D0CD-4359-8C43-D39688E4CCF8}"/>
              </a:ext>
            </a:extLst>
          </p:cNvPr>
          <p:cNvSpPr>
            <a:spLocks xmlns:a="http://schemas.openxmlformats.org/drawingml/2006/main" noGrp="1"/>
          </p:cNvSpPr>
          <p:nvPr/>
        </p:nvSpPr>
        <p:spPr>
          <a:xfrm xmlns:a="http://schemas.openxmlformats.org/drawingml/2006/main">
            <a:off x="609600" y="11620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63EB"/>
                </a:solidFill>
                <a:latin typeface="Arial"/>
                <a:ea typeface="Arial"/>
                <a:cs typeface="Arial"/>
              </a:defRPr>
            </a:pPr>
            <a:r>
              <a:rPr sz="1950" b="0">
                <a:solidFill>
                  <a:srgbClr val="2563EB"/>
                </a:solidFill>
                <a:latin typeface="Arial"/>
                <a:ea typeface="Arial"/>
                <a:cs typeface="Arial"/>
              </a:rPr>
              <a:t>Spanish inquiry → reviewed ticket → Portuguese handoff</a:t>
            </a:r>
          </a:p>
        </p:txBody>
      </p:sp>
      <p:sp>
        <p:nvSpPr>
          <p:cNvPr id="5" name="1  Find">
            <a:extLst xmlns:a="http://schemas.openxmlformats.org/drawingml/2006/main">
              <a:ext uri="{FF2B5EF4-FFF2-40B4-BE49-F238E27FC236}">
                <a16:creationId xmlns:a16="http://schemas.microsoft.com/office/drawing/2014/main" id="{E76AC0E3-A6DF-4C52-AB00-C8D9F96BF97A}"/>
              </a:ext>
            </a:extLst>
          </p:cNvPr>
          <p:cNvSpPr>
            <a:spLocks xmlns:a="http://schemas.openxmlformats.org/drawingml/2006/main" noGrp="1"/>
          </p:cNvSpPr>
          <p:nvPr/>
        </p:nvSpPr>
        <p:spPr>
          <a:xfrm xmlns:a="http://schemas.openxmlformats.org/drawingml/2006/main">
            <a:off x="609600" y="1924050"/>
            <a:ext cx="671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1  Find</a:t>
            </a:r>
          </a:p>
        </p:txBody>
      </p:sp>
      <p:sp>
        <p:nvSpPr>
          <p:cNvPr id="6" name="Ask for amount, currency or date; resolve multiple matc">
            <a:extLst xmlns:a="http://schemas.openxmlformats.org/drawingml/2006/main">
              <a:ext uri="{FF2B5EF4-FFF2-40B4-BE49-F238E27FC236}">
                <a16:creationId xmlns:a16="http://schemas.microsoft.com/office/drawing/2014/main" id="{BA4FAC69-EEBE-49DB-BE14-771939A61EBD}"/>
              </a:ext>
            </a:extLst>
          </p:cNvPr>
          <p:cNvSpPr>
            <a:spLocks xmlns:a="http://schemas.openxmlformats.org/drawingml/2006/main" noGrp="1"/>
          </p:cNvSpPr>
          <p:nvPr/>
        </p:nvSpPr>
        <p:spPr>
          <a:xfrm xmlns:a="http://schemas.openxmlformats.org/drawingml/2006/main">
            <a:off x="609600" y="2247900"/>
            <a:ext cx="671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Ask for amount, currency or date; resolve multiple matches.</a:t>
            </a:r>
          </a:p>
        </p:txBody>
      </p:sp>
      <p:sp>
        <p:nvSpPr>
          <p:cNvPr id="7" name="2  Explain">
            <a:extLst xmlns:a="http://schemas.openxmlformats.org/drawingml/2006/main">
              <a:ext uri="{FF2B5EF4-FFF2-40B4-BE49-F238E27FC236}">
                <a16:creationId xmlns:a16="http://schemas.microsoft.com/office/drawing/2014/main" id="{8ABC15D6-D135-4F8D-A871-8B9262D5F307}"/>
              </a:ext>
            </a:extLst>
          </p:cNvPr>
          <p:cNvSpPr>
            <a:spLocks xmlns:a="http://schemas.openxmlformats.org/drawingml/2006/main" noGrp="1"/>
          </p:cNvSpPr>
          <p:nvPr/>
        </p:nvSpPr>
        <p:spPr>
          <a:xfrm xmlns:a="http://schemas.openxmlformats.org/drawingml/2006/main">
            <a:off x="609600" y="2695575"/>
            <a:ext cx="671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2  Explain</a:t>
            </a:r>
          </a:p>
        </p:txBody>
      </p:sp>
      <p:sp>
        <p:nvSpPr>
          <p:cNvPr id="8" name="Show selected record facts and their evidence reference">
            <a:extLst xmlns:a="http://schemas.openxmlformats.org/drawingml/2006/main">
              <a:ext uri="{FF2B5EF4-FFF2-40B4-BE49-F238E27FC236}">
                <a16:creationId xmlns:a16="http://schemas.microsoft.com/office/drawing/2014/main" id="{B37B0F2B-3712-4BB4-B708-371B32F922AA}"/>
              </a:ext>
            </a:extLst>
          </p:cNvPr>
          <p:cNvSpPr>
            <a:spLocks xmlns:a="http://schemas.openxmlformats.org/drawingml/2006/main" noGrp="1"/>
          </p:cNvSpPr>
          <p:nvPr/>
        </p:nvSpPr>
        <p:spPr>
          <a:xfrm xmlns:a="http://schemas.openxmlformats.org/drawingml/2006/main">
            <a:off x="609600" y="3019425"/>
            <a:ext cx="671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Show selected record facts and their evidence reference.</a:t>
            </a:r>
          </a:p>
        </p:txBody>
      </p:sp>
      <p:sp>
        <p:nvSpPr>
          <p:cNvPr id="9" name="3  Prepare">
            <a:extLst xmlns:a="http://schemas.openxmlformats.org/drawingml/2006/main">
              <a:ext uri="{FF2B5EF4-FFF2-40B4-BE49-F238E27FC236}">
                <a16:creationId xmlns:a16="http://schemas.microsoft.com/office/drawing/2014/main" id="{224FB42B-07DD-4E38-9536-809D0DA54025}"/>
              </a:ext>
            </a:extLst>
          </p:cNvPr>
          <p:cNvSpPr>
            <a:spLocks xmlns:a="http://schemas.openxmlformats.org/drawingml/2006/main" noGrp="1"/>
          </p:cNvSpPr>
          <p:nvPr/>
        </p:nvSpPr>
        <p:spPr>
          <a:xfrm xmlns:a="http://schemas.openxmlformats.org/drawingml/2006/main">
            <a:off x="609600" y="3467100"/>
            <a:ext cx="671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3  Prepare</a:t>
            </a:r>
          </a:p>
        </p:txBody>
      </p:sp>
      <p:sp>
        <p:nvSpPr>
          <p:cNvPr id="10" name="Accepting the review offer creates a draft only.">
            <a:extLst xmlns:a="http://schemas.openxmlformats.org/drawingml/2006/main">
              <a:ext uri="{FF2B5EF4-FFF2-40B4-BE49-F238E27FC236}">
                <a16:creationId xmlns:a16="http://schemas.microsoft.com/office/drawing/2014/main" id="{14ECA6BA-ACD8-4513-8C0E-4D0F66834FA9}"/>
              </a:ext>
            </a:extLst>
          </p:cNvPr>
          <p:cNvSpPr>
            <a:spLocks xmlns:a="http://schemas.openxmlformats.org/drawingml/2006/main" noGrp="1"/>
          </p:cNvSpPr>
          <p:nvPr/>
        </p:nvSpPr>
        <p:spPr>
          <a:xfrm xmlns:a="http://schemas.openxmlformats.org/drawingml/2006/main">
            <a:off x="609600" y="3790950"/>
            <a:ext cx="671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Accepting the review offer creates a draft only.</a:t>
            </a:r>
          </a:p>
        </p:txBody>
      </p:sp>
      <p:sp>
        <p:nvSpPr>
          <p:cNvPr id="11" name="4  Confirm">
            <a:extLst xmlns:a="http://schemas.openxmlformats.org/drawingml/2006/main">
              <a:ext uri="{FF2B5EF4-FFF2-40B4-BE49-F238E27FC236}">
                <a16:creationId xmlns:a16="http://schemas.microsoft.com/office/drawing/2014/main" id="{41AB33FA-8703-4EBD-8A73-C5CD54421154}"/>
              </a:ext>
            </a:extLst>
          </p:cNvPr>
          <p:cNvSpPr>
            <a:spLocks xmlns:a="http://schemas.openxmlformats.org/drawingml/2006/main" noGrp="1"/>
          </p:cNvSpPr>
          <p:nvPr/>
        </p:nvSpPr>
        <p:spPr>
          <a:xfrm xmlns:a="http://schemas.openxmlformats.org/drawingml/2006/main">
            <a:off x="609600" y="4238625"/>
            <a:ext cx="671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4  Confirm</a:t>
            </a:r>
          </a:p>
        </p:txBody>
      </p:sp>
      <p:sp>
        <p:nvSpPr>
          <p:cNvPr id="12" name="Review exact details; save only after explicit confirma">
            <a:extLst xmlns:a="http://schemas.openxmlformats.org/drawingml/2006/main">
              <a:ext uri="{FF2B5EF4-FFF2-40B4-BE49-F238E27FC236}">
                <a16:creationId xmlns:a16="http://schemas.microsoft.com/office/drawing/2014/main" id="{33534C98-6786-444C-B3C2-8D79AC427530}"/>
              </a:ext>
            </a:extLst>
          </p:cNvPr>
          <p:cNvSpPr>
            <a:spLocks xmlns:a="http://schemas.openxmlformats.org/drawingml/2006/main" noGrp="1"/>
          </p:cNvSpPr>
          <p:nvPr/>
        </p:nvSpPr>
        <p:spPr>
          <a:xfrm xmlns:a="http://schemas.openxmlformats.org/drawingml/2006/main">
            <a:off x="609600" y="4562475"/>
            <a:ext cx="671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Review exact details; save only after explicit confirmation.</a:t>
            </a:r>
          </a:p>
        </p:txBody>
      </p:sp>
      <p:sp>
        <p:nvSpPr>
          <p:cNvPr id="13" name="5  Hand off">
            <a:extLst xmlns:a="http://schemas.openxmlformats.org/drawingml/2006/main">
              <a:ext uri="{FF2B5EF4-FFF2-40B4-BE49-F238E27FC236}">
                <a16:creationId xmlns:a16="http://schemas.microsoft.com/office/drawing/2014/main" id="{1CE46F0D-F586-412C-B321-6CD570C91AD5}"/>
              </a:ext>
            </a:extLst>
          </p:cNvPr>
          <p:cNvSpPr>
            <a:spLocks xmlns:a="http://schemas.openxmlformats.org/drawingml/2006/main" noGrp="1"/>
          </p:cNvSpPr>
          <p:nvPr/>
        </p:nvSpPr>
        <p:spPr>
          <a:xfrm xmlns:a="http://schemas.openxmlformats.org/drawingml/2006/main">
            <a:off x="609600" y="5010150"/>
            <a:ext cx="6715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11827"/>
                </a:solidFill>
                <a:latin typeface="Arial"/>
                <a:ea typeface="Arial"/>
                <a:cs typeface="Arial"/>
              </a:defRPr>
            </a:pPr>
            <a:r>
              <a:rPr sz="1950" b="1">
                <a:solidFill>
                  <a:srgbClr val="111827"/>
                </a:solidFill>
                <a:latin typeface="Arial"/>
                <a:ea typeface="Arial"/>
                <a:cs typeface="Arial"/>
              </a:rPr>
              <a:t>5  Hand off</a:t>
            </a:r>
          </a:p>
        </p:txBody>
      </p:sp>
      <p:sp>
        <p:nvSpPr>
          <p:cNvPr id="14" name="Carry the issue, facts, attempted steps and existing re">
            <a:extLst xmlns:a="http://schemas.openxmlformats.org/drawingml/2006/main">
              <a:ext uri="{FF2B5EF4-FFF2-40B4-BE49-F238E27FC236}">
                <a16:creationId xmlns:a16="http://schemas.microsoft.com/office/drawing/2014/main" id="{A96B5DD2-27C8-4FFA-92F4-0489DD8D19DC}"/>
              </a:ext>
            </a:extLst>
          </p:cNvPr>
          <p:cNvSpPr>
            <a:spLocks xmlns:a="http://schemas.openxmlformats.org/drawingml/2006/main" noGrp="1"/>
          </p:cNvSpPr>
          <p:nvPr/>
        </p:nvSpPr>
        <p:spPr>
          <a:xfrm xmlns:a="http://schemas.openxmlformats.org/drawingml/2006/main">
            <a:off x="609600" y="5334000"/>
            <a:ext cx="671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Carry the issue, facts, attempted steps and existing receipt.</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c2c6daadf6b4b36"/>
          <a:stretch xmlns:a="http://schemas.openxmlformats.org/drawingml/2006/main"/>
        </p:blipFill>
        <p:spPr>
          <a:xfrm xmlns:a="http://schemas.openxmlformats.org/drawingml/2006/main">
            <a:off x="8613930" y="1600200"/>
            <a:ext cx="2355540" cy="4324350"/>
          </a:xfrm>
          <a:prstGeom xmlns:a="http://schemas.openxmlformats.org/drawingml/2006/main" prst="rect">
            <a:avLst/>
          </a:prstGeom>
        </p:spPr>
      </p:pic>
      <p:sp>
        <p:nvSpPr>
          <p:cNvPr id="16" name="Fictional record · draft before final confirmation">
            <a:extLst xmlns:a="http://schemas.openxmlformats.org/drawingml/2006/main">
              <a:ext uri="{FF2B5EF4-FFF2-40B4-BE49-F238E27FC236}">
                <a16:creationId xmlns:a16="http://schemas.microsoft.com/office/drawing/2014/main" id="{4EC8DE6C-7722-4EBC-BDFD-8D56A3D1E215}"/>
              </a:ext>
            </a:extLst>
          </p:cNvPr>
          <p:cNvSpPr>
            <a:spLocks xmlns:a="http://schemas.openxmlformats.org/drawingml/2006/main" noGrp="1"/>
          </p:cNvSpPr>
          <p:nvPr/>
        </p:nvSpPr>
        <p:spPr>
          <a:xfrm xmlns:a="http://schemas.openxmlformats.org/drawingml/2006/main">
            <a:off x="7962900" y="6029325"/>
            <a:ext cx="3600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46566A"/>
                </a:solidFill>
                <a:latin typeface="Arial"/>
                <a:ea typeface="Arial"/>
                <a:cs typeface="Arial"/>
              </a:defRPr>
            </a:pPr>
            <a:r>
              <a:rPr sz="1275" b="0">
                <a:solidFill>
                  <a:srgbClr val="46566A"/>
                </a:solidFill>
                <a:latin typeface="Arial"/>
                <a:ea typeface="Arial"/>
                <a:cs typeface="Arial"/>
              </a:rPr>
              <a:t>Fictional record · draft before final confirmation</a:t>
            </a:r>
          </a:p>
        </p:txBody>
      </p:sp>
    </p:spTree>
    <p:extLst>
      <p:ext uri="{BB962C8B-B14F-4D97-AF65-F5344CB8AC3E}">
        <p14:creationId xmlns:p14="http://schemas.microsoft.com/office/powerpoint/2010/main" val="238225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ntent routing and service authority">
            <a:extLst xmlns:a="http://schemas.openxmlformats.org/drawingml/2006/main">
              <a:ext uri="{FF2B5EF4-FFF2-40B4-BE49-F238E27FC236}">
                <a16:creationId xmlns:a16="http://schemas.microsoft.com/office/drawing/2014/main" id="{CAF63AFB-F6A5-476E-BF3F-7BA24498AC80}"/>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1827"/>
                </a:solidFill>
                <a:latin typeface="Arial"/>
                <a:ea typeface="Arial"/>
                <a:cs typeface="Arial"/>
              </a:defRPr>
            </a:pPr>
            <a:r>
              <a:rPr sz="3150" b="1">
                <a:solidFill>
                  <a:srgbClr val="111827"/>
                </a:solidFill>
                <a:latin typeface="Arial"/>
                <a:ea typeface="Arial"/>
                <a:cs typeface="Arial"/>
              </a:rPr>
              <a:t>Intent routing and service authority</a:t>
            </a:r>
          </a:p>
        </p:txBody>
      </p:sp>
      <p:sp>
        <p:nvSpPr>
          <p:cNvPr id="2" name="Sources: docs/source_intent_inventory.md · docs/require">
            <a:extLst xmlns:a="http://schemas.openxmlformats.org/drawingml/2006/main">
              <a:ext uri="{FF2B5EF4-FFF2-40B4-BE49-F238E27FC236}">
                <a16:creationId xmlns:a16="http://schemas.microsoft.com/office/drawing/2014/main" id="{3D41C58F-5EC7-4287-9217-52F1E38942C1}"/>
              </a:ext>
            </a:extLst>
          </p:cNvPr>
          <p:cNvSpPr>
            <a:spLocks xmlns:a="http://schemas.openxmlformats.org/drawingml/2006/main" noGrp="1"/>
          </p:cNvSpPr>
          <p:nvPr/>
        </p:nvSpPr>
        <p:spPr>
          <a:xfrm xmlns:a="http://schemas.openxmlformats.org/drawingml/2006/main">
            <a:off x="609600" y="641985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Sources: docs/source_intent_inventory.md · docs/requirements.md · docs/post_audit_repairs.md</a:t>
            </a:r>
          </a:p>
        </p:txBody>
      </p:sp>
      <p:sp>
        <p:nvSpPr>
          <p:cNvPr id="3" name="3 / 5">
            <a:extLst xmlns:a="http://schemas.openxmlformats.org/drawingml/2006/main">
              <a:ext uri="{FF2B5EF4-FFF2-40B4-BE49-F238E27FC236}">
                <a16:creationId xmlns:a16="http://schemas.microsoft.com/office/drawing/2014/main" id="{A6C91F2D-309E-4297-B6CA-0DD26E286959}"/>
              </a:ext>
            </a:extLst>
          </p:cNvPr>
          <p:cNvSpPr>
            <a:spLocks xmlns:a="http://schemas.openxmlformats.org/drawingml/2006/main" noGrp="1"/>
          </p:cNvSpPr>
          <p:nvPr/>
        </p:nvSpPr>
        <p:spPr>
          <a:xfrm xmlns:a="http://schemas.openxmlformats.org/drawingml/2006/main">
            <a:off x="10991850" y="64198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3 / 5</a:t>
            </a:r>
          </a:p>
        </p:txBody>
      </p:sp>
      <p:sp>
        <p:nvSpPr>
          <p:cNvPr id="4" name="Character 3–5 n-gram Naive Bayes v2 · alpha 1&#10;144 autho">
            <a:extLst xmlns:a="http://schemas.openxmlformats.org/drawingml/2006/main">
              <a:ext uri="{FF2B5EF4-FFF2-40B4-BE49-F238E27FC236}">
                <a16:creationId xmlns:a16="http://schemas.microsoft.com/office/drawing/2014/main" id="{07B073D3-5855-4385-8F08-937C998219C7}"/>
              </a:ext>
            </a:extLst>
          </p:cNvPr>
          <p:cNvSpPr>
            <a:spLocks xmlns:a="http://schemas.openxmlformats.org/drawingml/2006/main" noGrp="1"/>
          </p:cNvSpPr>
          <p:nvPr/>
        </p:nvSpPr>
        <p:spPr>
          <a:xfrm xmlns:a="http://schemas.openxmlformats.org/drawingml/2006/main">
            <a:off x="609600" y="120015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63EB"/>
                </a:solidFill>
                <a:latin typeface="Arial"/>
                <a:ea typeface="Arial"/>
                <a:cs typeface="Arial"/>
              </a:defRPr>
            </a:pPr>
            <a:r>
              <a:rPr sz="2025" b="0">
                <a:solidFill>
                  <a:srgbClr val="2563EB"/>
                </a:solidFill>
                <a:latin typeface="Arial"/>
                <a:ea typeface="Arial"/>
                <a:cs typeface="Arial"/>
              </a:rPr>
              <a:t>Character 3–5 n-gram Naive Bayes v2 · alpha 1</a:t>
            </a:r>
          </a:p>
          <a:p xmlns:a="http://schemas.openxmlformats.org/drawingml/2006/main">
            <a:pPr>
              <a:defRPr sz="2025" b="0">
                <a:solidFill>
                  <a:srgbClr val="2563EB"/>
                </a:solidFill>
                <a:latin typeface="Arial"/>
                <a:ea typeface="Arial"/>
                <a:cs typeface="Arial"/>
              </a:defRPr>
            </a:pPr>
            <a:r>
              <a:rPr sz="2025" b="0">
                <a:solidFill>
                  <a:srgbClr val="2563EB"/>
                </a:solidFill>
                <a:latin typeface="Arial"/>
                <a:ea typeface="Arial"/>
                <a:cs typeface="Arial"/>
              </a:rPr>
              <a:t>144 authored TRAIN messages · four intents · local inference</a:t>
            </a:r>
          </a:p>
        </p:txBody>
      </p:sp>
      <p:graphicFrame>
        <p:nvGraphicFramePr>
          <p:cNvPr id="12" name=""/>
          <p:cNvGraphicFramePr/>
          <p:nvPr/>
        </p:nvGraphicFramePr>
        <p:xfrm>
          <a:off xmlns:a="http://schemas.openxmlformats.org/drawingml/2006/main" x="609600" y="2390775"/>
          <a:ext xmlns:a="http://schemas.openxmlformats.org/drawingml/2006/main" cx="10972800" cy="2724150"/>
        </p:xfrm>
        <a:graphic xmlns:a="http://schemas.openxmlformats.org/drawingml/2006/main">
          <a:graphicData uri="http://schemas.openxmlformats.org/drawingml/2006/table">
            <a:tbl>
              <a:tblPr firstRow="1" bandRow="0"/>
              <a:tblGrid>
                <a:gridCol w="3371850"/>
                <a:gridCol w="7600950"/>
              </a:tblGrid>
              <a:tr h="544830">
                <a:tc>
                  <a:txBody>
                    <a:bodyPr>
                      <a:noAutofit/>
                    </a:bodyPr>
                    <a:lstStyle/>
                    <a:p>
                      <a:r>
                        <a:rPr sz="1650" b="1">
                          <a:solidFill>
                            <a:srgbClr val="FFFFFF"/>
                          </a:solidFill>
                          <a:latin typeface="Arial"/>
                          <a:ea typeface="Arial"/>
                          <a:cs typeface="Arial"/>
                        </a:rPr>
                        <a:t>Component</a:t>
                      </a:r>
                    </a:p>
                  </a:txBody>
                  <a:tcPr marL="91440" marR="91440" marT="45720" marB="45720">
                    <a:solidFill>
                      <a:srgbClr val="111827"/>
                    </a:solidFill>
                  </a:tcPr>
                </a:tc>
                <a:tc>
                  <a:txBody>
                    <a:bodyPr>
                      <a:noAutofit/>
                    </a:bodyPr>
                    <a:lstStyle/>
                    <a:p>
                      <a:r>
                        <a:rPr sz="1650" b="1">
                          <a:solidFill>
                            <a:srgbClr val="FFFFFF"/>
                          </a:solidFill>
                          <a:latin typeface="Arial"/>
                          <a:ea typeface="Arial"/>
                          <a:cs typeface="Arial"/>
                        </a:rPr>
                        <a:t>Allowed role</a:t>
                      </a:r>
                    </a:p>
                  </a:txBody>
                  <a:tcPr marL="91440" marR="91440" marT="45720" marB="45720">
                    <a:solidFill>
                      <a:srgbClr val="111827"/>
                    </a:solidFill>
                  </a:tcPr>
                </a:tc>
              </a:tr>
              <a:tr h="544830">
                <a:tc>
                  <a:txBody>
                    <a:bodyPr>
                      <a:noAutofit/>
                    </a:bodyPr>
                    <a:lstStyle/>
                    <a:p>
                      <a:r>
                        <a:rPr sz="1800" b="0">
                          <a:solidFill>
                            <a:srgbClr val="111827"/>
                          </a:solidFill>
                          <a:latin typeface="Arial"/>
                          <a:ea typeface="Arial"/>
                          <a:cs typeface="Arial"/>
                        </a:rPr>
                        <a:t>Local router</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Propose an intent; never grant access or execute a write</a:t>
                      </a:r>
                    </a:p>
                  </a:txBody>
                  <a:tcPr marL="91440" marR="91440" marT="45720" marB="45720">
                    <a:solidFill>
                      <a:srgbClr val="EFF4FC"/>
                    </a:solidFill>
                  </a:tcPr>
                </a:tc>
              </a:tr>
              <a:tr h="544830">
                <a:tc>
                  <a:txBody>
                    <a:bodyPr>
                      <a:noAutofit/>
                    </a:bodyPr>
                    <a:lstStyle/>
                    <a:p>
                      <a:r>
                        <a:rPr sz="1800" b="0">
                          <a:solidFill>
                            <a:srgbClr val="111827"/>
                          </a:solidFill>
                          <a:latin typeface="Arial"/>
                          <a:ea typeface="Arial"/>
                          <a:cs typeface="Arial"/>
                        </a:rPr>
                        <a:t>Trusted session + record service</a:t>
                      </a:r>
                    </a:p>
                  </a:txBody>
                  <a:tcPr marL="91440" marR="91440" marT="45720" marB="45720">
                    <a:solidFill>
                      <a:srgbClr val="FFFFFF"/>
                    </a:solidFill>
                  </a:tcPr>
                </a:tc>
                <a:tc>
                  <a:txBody>
                    <a:bodyPr>
                      <a:noAutofit/>
                    </a:bodyPr>
                    <a:lstStyle/>
                    <a:p>
                      <a:r>
                        <a:rPr sz="1800" b="0">
                          <a:solidFill>
                            <a:srgbClr val="111827"/>
                          </a:solidFill>
                          <a:latin typeface="Arial"/>
                          <a:ea typeface="Arial"/>
                          <a:cs typeface="Arial"/>
                        </a:rPr>
                        <a:t>Enforce ownership, read permission and session validity</a:t>
                      </a:r>
                    </a:p>
                  </a:txBody>
                  <a:tcPr marL="91440" marR="91440" marT="45720" marB="45720">
                    <a:solidFill>
                      <a:srgbClr val="FFFFFF"/>
                    </a:solidFill>
                  </a:tcPr>
                </a:tc>
              </a:tr>
              <a:tr h="544830">
                <a:tc>
                  <a:txBody>
                    <a:bodyPr>
                      <a:noAutofit/>
                    </a:bodyPr>
                    <a:lstStyle/>
                    <a:p>
                      <a:r>
                        <a:rPr sz="1800" b="0">
                          <a:solidFill>
                            <a:srgbClr val="111827"/>
                          </a:solidFill>
                          <a:latin typeface="Arial"/>
                          <a:ea typeface="Arial"/>
                          <a:cs typeface="Arial"/>
                        </a:rPr>
                        <a:t>Draft + consent guard</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Bind exact request and facts to explicit confirmation</a:t>
                      </a:r>
                    </a:p>
                  </a:txBody>
                  <a:tcPr marL="91440" marR="91440" marT="45720" marB="45720">
                    <a:solidFill>
                      <a:srgbClr val="EFF4FC"/>
                    </a:solidFill>
                  </a:tcPr>
                </a:tc>
              </a:tr>
              <a:tr h="544830">
                <a:tc>
                  <a:txBody>
                    <a:bodyPr>
                      <a:noAutofit/>
                    </a:bodyPr>
                    <a:lstStyle/>
                    <a:p>
                      <a:r>
                        <a:rPr sz="1800" b="0">
                          <a:solidFill>
                            <a:srgbClr val="111827"/>
                          </a:solidFill>
                          <a:latin typeface="Arial"/>
                          <a:ea typeface="Arial"/>
                          <a:cs typeface="Arial"/>
                        </a:rPr>
                        <a:t>SQLite store + readback</a:t>
                      </a:r>
                    </a:p>
                  </a:txBody>
                  <a:tcPr marL="91440" marR="91440" marT="45720" marB="45720">
                    <a:solidFill>
                      <a:srgbClr val="FFFFFF"/>
                    </a:solidFill>
                  </a:tcPr>
                </a:tc>
                <a:tc>
                  <a:txBody>
                    <a:bodyPr>
                      <a:noAutofit/>
                    </a:bodyPr>
                    <a:lstStyle/>
                    <a:p>
                      <a:r>
                        <a:rPr sz="1800" b="0">
                          <a:solidFill>
                            <a:srgbClr val="111827"/>
                          </a:solidFill>
                          <a:latin typeface="Arial"/>
                          <a:ea typeface="Arial"/>
                          <a:cs typeface="Arial"/>
                        </a:rPr>
                        <a:t>Persist intake or handoff; return a verified receipt</a:t>
                      </a:r>
                    </a:p>
                  </a:txBody>
                  <a:tcPr marL="91440" marR="91440" marT="45720" marB="45720">
                    <a:solidFill>
                      <a:srgbClr val="FFFFFF"/>
                    </a:solidFill>
                  </a:tcPr>
                </a:tc>
              </a:tr>
            </a:tbl>
          </a:graphicData>
        </a:graphic>
      </p:graphicFrame>
      <p:sp>
        <p:nvSpPr>
          <p:cNvPr id="6" name="Why authored messages: all transcript tags were Spanish">
            <a:extLst xmlns:a="http://schemas.openxmlformats.org/drawingml/2006/main">
              <a:ext uri="{FF2B5EF4-FFF2-40B4-BE49-F238E27FC236}">
                <a16:creationId xmlns:a16="http://schemas.microsoft.com/office/drawing/2014/main" id="{38EF6C16-4561-472F-8EA6-B080B87F7A67}"/>
              </a:ext>
            </a:extLst>
          </p:cNvPr>
          <p:cNvSpPr>
            <a:spLocks xmlns:a="http://schemas.openxmlformats.org/drawingml/2006/main" noGrp="1"/>
          </p:cNvSpPr>
          <p:nvPr/>
        </p:nvSpPr>
        <p:spPr>
          <a:xfrm xmlns:a="http://schemas.openxmlformats.org/drawingml/2006/main">
            <a:off x="609600" y="5305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Why authored messages: all transcript tags were Spanish; all 42 text groups</a:t>
            </a:r>
          </a:p>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had conflicting topic labels. Inventory found balance-request openings.</a:t>
            </a:r>
          </a:p>
        </p:txBody>
      </p:sp>
      <p:sp>
        <p:nvSpPr>
          <p:cNvPr id="7" name="Spanish owner-reviewed · Portuguese accepted by assumpt">
            <a:extLst xmlns:a="http://schemas.openxmlformats.org/drawingml/2006/main">
              <a:ext uri="{FF2B5EF4-FFF2-40B4-BE49-F238E27FC236}">
                <a16:creationId xmlns:a16="http://schemas.microsoft.com/office/drawing/2014/main" id="{4E8CD352-A82E-472E-9358-2C1B1A01319F}"/>
              </a:ext>
            </a:extLst>
          </p:cNvPr>
          <p:cNvSpPr>
            <a:spLocks xmlns:a="http://schemas.openxmlformats.org/drawingml/2006/main" noGrp="1"/>
          </p:cNvSpPr>
          <p:nvPr/>
        </p:nvSpPr>
        <p:spPr>
          <a:xfrm xmlns:a="http://schemas.openxmlformats.org/drawingml/2006/main">
            <a:off x="609600" y="60674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563EB"/>
                </a:solidFill>
                <a:latin typeface="Arial"/>
                <a:ea typeface="Arial"/>
                <a:cs typeface="Arial"/>
              </a:defRPr>
            </a:pPr>
            <a:r>
              <a:rPr sz="1575" b="0">
                <a:solidFill>
                  <a:srgbClr val="2563EB"/>
                </a:solidFill>
                <a:latin typeface="Arial"/>
                <a:ea typeface="Arial"/>
                <a:cs typeface="Arial"/>
              </a:rPr>
              <a:t>Spanish owner-reviewed · Portuguese accepted by assumption; no fluent review</a:t>
            </a:r>
          </a:p>
        </p:txBody>
      </p:sp>
    </p:spTree>
    <p:extLst>
      <p:ext uri="{BB962C8B-B14F-4D97-AF65-F5344CB8AC3E}">
        <p14:creationId xmlns:p14="http://schemas.microsoft.com/office/powerpoint/2010/main" val="10478848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etter intent scores did not qualify the workflow">
            <a:extLst xmlns:a="http://schemas.openxmlformats.org/drawingml/2006/main">
              <a:ext uri="{FF2B5EF4-FFF2-40B4-BE49-F238E27FC236}">
                <a16:creationId xmlns:a16="http://schemas.microsoft.com/office/drawing/2014/main" id="{2761FB91-5B75-4AA9-9D1C-5CA13B4943BA}"/>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1827"/>
                </a:solidFill>
                <a:latin typeface="Arial"/>
                <a:ea typeface="Arial"/>
                <a:cs typeface="Arial"/>
              </a:defRPr>
            </a:pPr>
            <a:r>
              <a:rPr sz="3150" b="1">
                <a:solidFill>
                  <a:srgbClr val="111827"/>
                </a:solidFill>
                <a:latin typeface="Arial"/>
                <a:ea typeface="Arial"/>
                <a:cs typeface="Arial"/>
              </a:rPr>
              <a:t>Better intent scores did not qualify the workflow</a:t>
            </a:r>
          </a:p>
        </p:txBody>
      </p:sp>
      <p:sp>
        <p:nvSpPr>
          <p:cNvPr id="2" name="Sources: docs/final_workflow_results.md · docs/post_aud">
            <a:extLst xmlns:a="http://schemas.openxmlformats.org/drawingml/2006/main">
              <a:ext uri="{FF2B5EF4-FFF2-40B4-BE49-F238E27FC236}">
                <a16:creationId xmlns:a16="http://schemas.microsoft.com/office/drawing/2014/main" id="{678F1EFE-BC08-4AB5-B0DB-2D643BB05FB7}"/>
              </a:ext>
            </a:extLst>
          </p:cNvPr>
          <p:cNvSpPr>
            <a:spLocks xmlns:a="http://schemas.openxmlformats.org/drawingml/2006/main" noGrp="1"/>
          </p:cNvSpPr>
          <p:nvPr/>
        </p:nvSpPr>
        <p:spPr>
          <a:xfrm xmlns:a="http://schemas.openxmlformats.org/drawingml/2006/main">
            <a:off x="609600" y="641985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Sources: docs/final_workflow_results.md · docs/post_audit_repairs.md · docs/deployment_readiness.md</a:t>
            </a:r>
          </a:p>
        </p:txBody>
      </p:sp>
      <p:sp>
        <p:nvSpPr>
          <p:cNvPr id="3" name="4 / 5">
            <a:extLst xmlns:a="http://schemas.openxmlformats.org/drawingml/2006/main">
              <a:ext uri="{FF2B5EF4-FFF2-40B4-BE49-F238E27FC236}">
                <a16:creationId xmlns:a16="http://schemas.microsoft.com/office/drawing/2014/main" id="{7837F779-15B1-4466-ADCE-A1D51CA6BF45}"/>
              </a:ext>
            </a:extLst>
          </p:cNvPr>
          <p:cNvSpPr>
            <a:spLocks xmlns:a="http://schemas.openxmlformats.org/drawingml/2006/main" noGrp="1"/>
          </p:cNvSpPr>
          <p:nvPr/>
        </p:nvSpPr>
        <p:spPr>
          <a:xfrm xmlns:a="http://schemas.openxmlformats.org/drawingml/2006/main">
            <a:off x="10991850" y="64198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4 / 5</a:t>
            </a:r>
          </a:p>
        </p:txBody>
      </p:sp>
      <p:sp>
        <p:nvSpPr>
          <p:cNvPr id="4" name="Original frozen comparison · keyword baseline → raw Nai">
            <a:extLst xmlns:a="http://schemas.openxmlformats.org/drawingml/2006/main">
              <a:ext uri="{FF2B5EF4-FFF2-40B4-BE49-F238E27FC236}">
                <a16:creationId xmlns:a16="http://schemas.microsoft.com/office/drawing/2014/main" id="{41672EDE-237A-417F-8094-555E891E3176}"/>
              </a:ext>
            </a:extLst>
          </p:cNvPr>
          <p:cNvSpPr>
            <a:spLocks xmlns:a="http://schemas.openxmlformats.org/drawingml/2006/main" noGrp="1"/>
          </p:cNvSpPr>
          <p:nvPr/>
        </p:nvSpPr>
        <p:spPr>
          <a:xfrm xmlns:a="http://schemas.openxmlformats.org/drawingml/2006/main">
            <a:off x="609600" y="122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6566A"/>
                </a:solidFill>
                <a:latin typeface="Arial"/>
                <a:ea typeface="Arial"/>
                <a:cs typeface="Arial"/>
              </a:defRPr>
            </a:pPr>
            <a:r>
              <a:rPr sz="1875" b="0">
                <a:solidFill>
                  <a:srgbClr val="46566A"/>
                </a:solidFill>
                <a:latin typeface="Arial"/>
                <a:ea typeface="Arial"/>
                <a:cs typeface="Arial"/>
              </a:rPr>
              <a:t>Original frozen comparison · keyword baseline → raw Naive Bayes v2</a:t>
            </a:r>
          </a:p>
        </p:txBody>
      </p:sp>
      <p:graphicFrame>
        <p:nvGraphicFramePr>
          <p:cNvPr id="15" name=""/>
          <p:cNvGraphicFramePr/>
          <p:nvPr/>
        </p:nvGraphicFramePr>
        <p:xfrm>
          <a:off xmlns:a="http://schemas.openxmlformats.org/drawingml/2006/main" x="609600" y="1809750"/>
          <a:ext xmlns:a="http://schemas.openxmlformats.org/drawingml/2006/main" cx="10972800" cy="1704975"/>
        </p:xfrm>
        <a:graphic xmlns:a="http://schemas.openxmlformats.org/drawingml/2006/main">
          <a:graphicData uri="http://schemas.openxmlformats.org/drawingml/2006/table">
            <a:tbl>
              <a:tblPr firstRow="1" bandRow="0"/>
              <a:tblGrid>
                <a:gridCol w="4591050"/>
                <a:gridCol w="3190875"/>
                <a:gridCol w="3190875"/>
              </a:tblGrid>
              <a:tr h="568325">
                <a:tc>
                  <a:txBody>
                    <a:bodyPr>
                      <a:noAutofit/>
                    </a:bodyPr>
                    <a:lstStyle/>
                    <a:p>
                      <a:r>
                        <a:rPr sz="1650" b="1">
                          <a:solidFill>
                            <a:srgbClr val="FFFFFF"/>
                          </a:solidFill>
                          <a:latin typeface="Arial"/>
                          <a:ea typeface="Arial"/>
                          <a:cs typeface="Arial"/>
                        </a:rPr>
                        <a:t>Measure</a:t>
                      </a:r>
                    </a:p>
                  </a:txBody>
                  <a:tcPr marL="91440" marR="91440" marT="45720" marB="45720">
                    <a:solidFill>
                      <a:srgbClr val="111827"/>
                    </a:solidFill>
                  </a:tcPr>
                </a:tc>
                <a:tc>
                  <a:txBody>
                    <a:bodyPr>
                      <a:noAutofit/>
                    </a:bodyPr>
                    <a:lstStyle/>
                    <a:p>
                      <a:r>
                        <a:rPr sz="1650" b="1">
                          <a:solidFill>
                            <a:srgbClr val="FFFFFF"/>
                          </a:solidFill>
                          <a:latin typeface="Arial"/>
                          <a:ea typeface="Arial"/>
                          <a:cs typeface="Arial"/>
                        </a:rPr>
                        <a:t>Spanish</a:t>
                      </a:r>
                    </a:p>
                  </a:txBody>
                  <a:tcPr marL="91440" marR="91440" marT="45720" marB="45720">
                    <a:solidFill>
                      <a:srgbClr val="111827"/>
                    </a:solidFill>
                  </a:tcPr>
                </a:tc>
                <a:tc>
                  <a:txBody>
                    <a:bodyPr>
                      <a:noAutofit/>
                    </a:bodyPr>
                    <a:lstStyle/>
                    <a:p>
                      <a:r>
                        <a:rPr sz="1650" b="1">
                          <a:solidFill>
                            <a:srgbClr val="FFFFFF"/>
                          </a:solidFill>
                          <a:latin typeface="Arial"/>
                          <a:ea typeface="Arial"/>
                          <a:cs typeface="Arial"/>
                        </a:rPr>
                        <a:t>Portuguese*</a:t>
                      </a:r>
                    </a:p>
                  </a:txBody>
                  <a:tcPr marL="91440" marR="91440" marT="45720" marB="45720">
                    <a:solidFill>
                      <a:srgbClr val="111827"/>
                    </a:solidFill>
                  </a:tcPr>
                </a:tc>
              </a:tr>
              <a:tr h="568325">
                <a:tc>
                  <a:txBody>
                    <a:bodyPr>
                      <a:noAutofit/>
                    </a:bodyPr>
                    <a:lstStyle/>
                    <a:p>
                      <a:r>
                        <a:rPr sz="1800" b="0">
                          <a:solidFill>
                            <a:srgbClr val="111827"/>
                          </a:solidFill>
                          <a:latin typeface="Arial"/>
                          <a:ea typeface="Arial"/>
                          <a:cs typeface="Arial"/>
                        </a:rPr>
                        <a:t>Component correct</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8/16 → 11/16</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6/16 → 12/16</a:t>
                      </a:r>
                    </a:p>
                  </a:txBody>
                  <a:tcPr marL="91440" marR="91440" marT="45720" marB="45720">
                    <a:solidFill>
                      <a:srgbClr val="EFF4FC"/>
                    </a:solidFill>
                  </a:tcPr>
                </a:tc>
              </a:tr>
              <a:tr h="568325">
                <a:tc>
                  <a:txBody>
                    <a:bodyPr>
                      <a:noAutofit/>
                    </a:bodyPr>
                    <a:lstStyle/>
                    <a:p>
                      <a:r>
                        <a:rPr sz="1800" b="0">
                          <a:solidFill>
                            <a:srgbClr val="111827"/>
                          </a:solidFill>
                          <a:latin typeface="Arial"/>
                          <a:ea typeface="Arial"/>
                          <a:cs typeface="Arial"/>
                        </a:rPr>
                        <a:t>Strict service completion</a:t>
                      </a:r>
                    </a:p>
                  </a:txBody>
                  <a:tcPr marL="91440" marR="91440" marT="45720" marB="45720">
                    <a:solidFill>
                      <a:srgbClr val="FFFFFF"/>
                    </a:solidFill>
                  </a:tcPr>
                </a:tc>
                <a:tc>
                  <a:txBody>
                    <a:bodyPr>
                      <a:noAutofit/>
                    </a:bodyPr>
                    <a:lstStyle/>
                    <a:p>
                      <a:r>
                        <a:rPr sz="1800" b="0">
                          <a:solidFill>
                            <a:srgbClr val="111827"/>
                          </a:solidFill>
                          <a:latin typeface="Arial"/>
                          <a:ea typeface="Arial"/>
                          <a:cs typeface="Arial"/>
                        </a:rPr>
                        <a:t>10/16 → 8/16</a:t>
                      </a:r>
                    </a:p>
                  </a:txBody>
                  <a:tcPr marL="91440" marR="91440" marT="45720" marB="45720">
                    <a:solidFill>
                      <a:srgbClr val="FFFFFF"/>
                    </a:solidFill>
                  </a:tcPr>
                </a:tc>
                <a:tc>
                  <a:txBody>
                    <a:bodyPr>
                      <a:noAutofit/>
                    </a:bodyPr>
                    <a:lstStyle/>
                    <a:p>
                      <a:r>
                        <a:rPr sz="1800" b="0">
                          <a:solidFill>
                            <a:srgbClr val="111827"/>
                          </a:solidFill>
                          <a:latin typeface="Arial"/>
                          <a:ea typeface="Arial"/>
                          <a:cs typeface="Arial"/>
                        </a:rPr>
                        <a:t>7/16 → 9/16</a:t>
                      </a:r>
                    </a:p>
                  </a:txBody>
                  <a:tcPr marL="91440" marR="91440" marT="45720" marB="45720">
                    <a:solidFill>
                      <a:srgbClr val="FFFFFF"/>
                    </a:solidFill>
                  </a:tcPr>
                </a:tc>
              </a:tr>
            </a:tbl>
          </a:graphicData>
        </a:graphic>
      </p:graphicFrame>
      <p:sp>
        <p:nvSpPr>
          <p:cNvPr id="6" name="Qualification failed · keyword routing remains default">
            <a:extLst xmlns:a="http://schemas.openxmlformats.org/drawingml/2006/main">
              <a:ext uri="{FF2B5EF4-FFF2-40B4-BE49-F238E27FC236}">
                <a16:creationId xmlns:a16="http://schemas.microsoft.com/office/drawing/2014/main" id="{8597325B-1CE6-48A4-8242-D65852DF692B}"/>
              </a:ext>
            </a:extLst>
          </p:cNvPr>
          <p:cNvSpPr>
            <a:spLocks xmlns:a="http://schemas.openxmlformats.org/drawingml/2006/main" noGrp="1"/>
          </p:cNvSpPr>
          <p:nvPr/>
        </p:nvSpPr>
        <p:spPr>
          <a:xfrm xmlns:a="http://schemas.openxmlformats.org/drawingml/2006/main">
            <a:off x="609600" y="3695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563EB"/>
                </a:solidFill>
                <a:latin typeface="Arial"/>
                <a:ea typeface="Arial"/>
                <a:cs typeface="Arial"/>
              </a:defRPr>
            </a:pPr>
            <a:r>
              <a:rPr sz="2175" b="1">
                <a:solidFill>
                  <a:srgbClr val="2563EB"/>
                </a:solidFill>
                <a:latin typeface="Arial"/>
                <a:ea typeface="Arial"/>
                <a:cs typeface="Arial"/>
              </a:rPr>
              <a:t>Qualification failed · keyword routing remains default</a:t>
            </a:r>
          </a:p>
        </p:txBody>
      </p:sp>
      <p:sp>
        <p:nvSpPr>
          <p:cNvPr id="7" name="Safety completion: 1/8 per language for both systems;&#10;s">
            <a:extLst xmlns:a="http://schemas.openxmlformats.org/drawingml/2006/main">
              <a:ext uri="{FF2B5EF4-FFF2-40B4-BE49-F238E27FC236}">
                <a16:creationId xmlns:a16="http://schemas.microsoft.com/office/drawing/2014/main" id="{CC39ACD9-8EC0-4B6E-98D0-3E3485FF1217}"/>
              </a:ext>
            </a:extLst>
          </p:cNvPr>
          <p:cNvSpPr>
            <a:spLocks xmlns:a="http://schemas.openxmlformats.org/drawingml/2006/main" noGrp="1"/>
          </p:cNvSpPr>
          <p:nvPr/>
        </p:nvSpPr>
        <p:spPr>
          <a:xfrm xmlns:a="http://schemas.openxmlformats.org/drawingml/2006/main">
            <a:off x="609600" y="421957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6566A"/>
                </a:solidFill>
                <a:latin typeface="Arial"/>
                <a:ea typeface="Arial"/>
                <a:cs typeface="Arial"/>
              </a:defRPr>
            </a:pPr>
            <a:r>
              <a:rPr sz="1875" b="0">
                <a:solidFill>
                  <a:srgbClr val="46566A"/>
                </a:solidFill>
                <a:latin typeface="Arial"/>
                <a:ea typeface="Arial"/>
                <a:cs typeface="Arial"/>
              </a:rPr>
              <a:t>Safety completion: 1/8 per language for both systems;</a:t>
            </a:r>
          </a:p>
          <a:p xmlns:a="http://schemas.openxmlformats.org/drawingml/2006/main">
            <a:pPr>
              <a:defRPr sz="1875" b="0">
                <a:solidFill>
                  <a:srgbClr val="46566A"/>
                </a:solidFill>
                <a:latin typeface="Arial"/>
                <a:ea typeface="Arial"/>
                <a:cs typeface="Arial"/>
              </a:defRPr>
            </a:pPr>
            <a:r>
              <a:rPr sz="1875" b="0">
                <a:solidFill>
                  <a:srgbClr val="46566A"/>
                </a:solidFill>
                <a:latin typeface="Arial"/>
                <a:ea typeface="Arial"/>
                <a:cs typeface="Arial"/>
              </a:rPr>
              <a:t>six intended fault conditions were never reached</a:t>
            </a:r>
          </a:p>
        </p:txBody>
      </p:sp>
      <p:sp>
        <p:nvSpPr>
          <p:cNvPr id="8" name="Separate current engineering checks">
            <a:extLst xmlns:a="http://schemas.openxmlformats.org/drawingml/2006/main">
              <a:ext uri="{FF2B5EF4-FFF2-40B4-BE49-F238E27FC236}">
                <a16:creationId xmlns:a16="http://schemas.microsoft.com/office/drawing/2014/main" id="{9C126A46-02FC-46A1-952C-B79E21ED4538}"/>
              </a:ext>
            </a:extLst>
          </p:cNvPr>
          <p:cNvSpPr>
            <a:spLocks xmlns:a="http://schemas.openxmlformats.org/drawingml/2006/main" noGrp="1"/>
          </p:cNvSpPr>
          <p:nvPr/>
        </p:nvSpPr>
        <p:spPr>
          <a:xfrm xmlns:a="http://schemas.openxmlformats.org/drawingml/2006/main">
            <a:off x="609600" y="51435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11827"/>
                </a:solidFill>
                <a:latin typeface="Arial"/>
                <a:ea typeface="Arial"/>
                <a:cs typeface="Arial"/>
              </a:defRPr>
            </a:pPr>
            <a:r>
              <a:rPr sz="1800" b="1">
                <a:solidFill>
                  <a:srgbClr val="111827"/>
                </a:solidFill>
                <a:latin typeface="Arial"/>
                <a:ea typeface="Arial"/>
                <a:cs typeface="Arial"/>
              </a:rPr>
              <a:t>Separate current engineering checks</a:t>
            </a:r>
          </a:p>
        </p:txBody>
      </p:sp>
      <p:sp>
        <p:nvSpPr>
          <p:cNvPr id="9" name="752 synthetic tests · four installed learned journeys ·">
            <a:extLst xmlns:a="http://schemas.openxmlformats.org/drawingml/2006/main">
              <a:ext uri="{FF2B5EF4-FFF2-40B4-BE49-F238E27FC236}">
                <a16:creationId xmlns:a16="http://schemas.microsoft.com/office/drawing/2014/main" id="{A4008973-38FA-4D20-87C1-D94D5ACE752C}"/>
              </a:ext>
            </a:extLst>
          </p:cNvPr>
          <p:cNvSpPr>
            <a:spLocks xmlns:a="http://schemas.openxmlformats.org/drawingml/2006/main" noGrp="1"/>
          </p:cNvSpPr>
          <p:nvPr/>
        </p:nvSpPr>
        <p:spPr>
          <a:xfrm xmlns:a="http://schemas.openxmlformats.org/drawingml/2006/main">
            <a:off x="609600" y="551497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6566A"/>
                </a:solidFill>
                <a:latin typeface="Arial"/>
                <a:ea typeface="Arial"/>
                <a:cs typeface="Arial"/>
              </a:defRPr>
            </a:pPr>
            <a:r>
              <a:rPr sz="1650" b="0">
                <a:solidFill>
                  <a:srgbClr val="46566A"/>
                </a:solidFill>
                <a:latin typeface="Arial"/>
                <a:ea typeface="Arial"/>
                <a:cs typeface="Arial"/>
              </a:rPr>
              <a:t>752 synthetic tests · four installed learned journeys · two hosted keyword journeys</a:t>
            </a:r>
          </a:p>
          <a:p xmlns:a="http://schemas.openxmlformats.org/drawingml/2006/main">
            <a:pPr>
              <a:defRPr sz="1650" b="0">
                <a:solidFill>
                  <a:srgbClr val="46566A"/>
                </a:solidFill>
                <a:latin typeface="Arial"/>
                <a:ea typeface="Arial"/>
                <a:cs typeface="Arial"/>
              </a:defRPr>
            </a:pPr>
            <a:r>
              <a:rPr sz="1650" b="0">
                <a:solidFill>
                  <a:srgbClr val="46566A"/>
                </a:solidFill>
                <a:latin typeface="Arial"/>
                <a:ea typeface="Arial"/>
                <a:cs typeface="Arial"/>
              </a:rPr>
              <a:t>Loopback HTTP simulates a TLS boundary; cloud HTTPS is still unverified</a:t>
            </a:r>
          </a:p>
        </p:txBody>
      </p:sp>
      <p:sp>
        <p:nvSpPr>
          <p:cNvPr id="10" name="Current guarded learned serving is unscored · *Portugue">
            <a:extLst xmlns:a="http://schemas.openxmlformats.org/drawingml/2006/main">
              <a:ext uri="{FF2B5EF4-FFF2-40B4-BE49-F238E27FC236}">
                <a16:creationId xmlns:a16="http://schemas.microsoft.com/office/drawing/2014/main" id="{782813F3-66A3-460F-B9EC-7F237B012718}"/>
              </a:ext>
            </a:extLst>
          </p:cNvPr>
          <p:cNvSpPr>
            <a:spLocks xmlns:a="http://schemas.openxmlformats.org/drawingml/2006/main" noGrp="1"/>
          </p:cNvSpPr>
          <p:nvPr/>
        </p:nvSpPr>
        <p:spPr>
          <a:xfrm xmlns:a="http://schemas.openxmlformats.org/drawingml/2006/main">
            <a:off x="609600" y="61817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2563EB"/>
                </a:solidFill>
                <a:latin typeface="Arial"/>
                <a:ea typeface="Arial"/>
                <a:cs typeface="Arial"/>
              </a:defRPr>
            </a:pPr>
            <a:r>
              <a:rPr sz="1425" b="0">
                <a:solidFill>
                  <a:srgbClr val="2563EB"/>
                </a:solidFill>
                <a:latin typeface="Arial"/>
                <a:ea typeface="Arial"/>
                <a:cs typeface="Arial"/>
              </a:rPr>
              <a:t>Current guarded learned serving is unscored · *Portuguese remains provisional</a:t>
            </a:r>
          </a:p>
        </p:txBody>
      </p:sp>
    </p:spTree>
    <p:extLst>
      <p:ext uri="{BB962C8B-B14F-4D97-AF65-F5344CB8AC3E}">
        <p14:creationId xmlns:p14="http://schemas.microsoft.com/office/powerpoint/2010/main" val="21002981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ocal package ready; judge access still pending">
            <a:extLst xmlns:a="http://schemas.openxmlformats.org/drawingml/2006/main">
              <a:ext uri="{FF2B5EF4-FFF2-40B4-BE49-F238E27FC236}">
                <a16:creationId xmlns:a16="http://schemas.microsoft.com/office/drawing/2014/main" id="{29973616-3B68-4FF6-85E0-7F826F637712}"/>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11827"/>
                </a:solidFill>
                <a:latin typeface="Arial"/>
                <a:ea typeface="Arial"/>
                <a:cs typeface="Arial"/>
              </a:defRPr>
            </a:pPr>
            <a:r>
              <a:rPr sz="3150" b="1">
                <a:solidFill>
                  <a:srgbClr val="111827"/>
                </a:solidFill>
                <a:latin typeface="Arial"/>
                <a:ea typeface="Arial"/>
                <a:cs typeface="Arial"/>
              </a:rPr>
              <a:t>Local package ready; judge access still pending</a:t>
            </a:r>
          </a:p>
        </p:txBody>
      </p:sp>
      <p:sp>
        <p:nvSpPr>
          <p:cNvPr id="2" name="Sources: README.md · docs/deployment.md · docs/submissi">
            <a:extLst xmlns:a="http://schemas.openxmlformats.org/drawingml/2006/main">
              <a:ext uri="{FF2B5EF4-FFF2-40B4-BE49-F238E27FC236}">
                <a16:creationId xmlns:a16="http://schemas.microsoft.com/office/drawing/2014/main" id="{4AEBA0A5-9D23-4630-96B3-91BA4FD834B9}"/>
              </a:ext>
            </a:extLst>
          </p:cNvPr>
          <p:cNvSpPr>
            <a:spLocks xmlns:a="http://schemas.openxmlformats.org/drawingml/2006/main" noGrp="1"/>
          </p:cNvSpPr>
          <p:nvPr/>
        </p:nvSpPr>
        <p:spPr>
          <a:xfrm xmlns:a="http://schemas.openxmlformats.org/drawingml/2006/main">
            <a:off x="609600" y="641985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Sources: README.md · docs/deployment.md · docs/submission_video_script.md</a:t>
            </a:r>
          </a:p>
        </p:txBody>
      </p:sp>
      <p:sp>
        <p:nvSpPr>
          <p:cNvPr id="3" name="5 / 5">
            <a:extLst xmlns:a="http://schemas.openxmlformats.org/drawingml/2006/main">
              <a:ext uri="{FF2B5EF4-FFF2-40B4-BE49-F238E27FC236}">
                <a16:creationId xmlns:a16="http://schemas.microsoft.com/office/drawing/2014/main" id="{4B11C94C-28EF-46CB-BF6F-994BAC8396A1}"/>
              </a:ext>
            </a:extLst>
          </p:cNvPr>
          <p:cNvSpPr>
            <a:spLocks xmlns:a="http://schemas.openxmlformats.org/drawingml/2006/main" noGrp="1"/>
          </p:cNvSpPr>
          <p:nvPr/>
        </p:nvSpPr>
        <p:spPr>
          <a:xfrm xmlns:a="http://schemas.openxmlformats.org/drawingml/2006/main">
            <a:off x="10991850" y="6419850"/>
            <a:ext cx="685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46566A"/>
                </a:solidFill>
                <a:latin typeface="Arial"/>
                <a:ea typeface="Arial"/>
                <a:cs typeface="Arial"/>
              </a:defRPr>
            </a:pPr>
            <a:r>
              <a:rPr sz="1050" b="0">
                <a:solidFill>
                  <a:srgbClr val="46566A"/>
                </a:solidFill>
                <a:latin typeface="Arial"/>
                <a:ea typeface="Arial"/>
                <a:cs typeface="Arial"/>
              </a:rPr>
              <a:t>5 / 5</a:t>
            </a:r>
          </a:p>
        </p:txBody>
      </p:sp>
      <p:sp>
        <p:nvSpPr>
          <p:cNvPr id="4" name="python -B -m bank_service web --port 8765&#10;python -B -m ">
            <a:extLst xmlns:a="http://schemas.openxmlformats.org/drawingml/2006/main">
              <a:ext uri="{FF2B5EF4-FFF2-40B4-BE49-F238E27FC236}">
                <a16:creationId xmlns:a16="http://schemas.microsoft.com/office/drawing/2014/main" id="{0B1947F4-6DED-434E-9C0E-AE4C8758CD2E}"/>
              </a:ext>
            </a:extLst>
          </p:cNvPr>
          <p:cNvSpPr>
            <a:spLocks xmlns:a="http://schemas.openxmlformats.org/drawingml/2006/main" noGrp="1"/>
          </p:cNvSpPr>
          <p:nvPr/>
        </p:nvSpPr>
        <p:spPr>
          <a:xfrm xmlns:a="http://schemas.openxmlformats.org/drawingml/2006/main">
            <a:off x="609600" y="12954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63EB"/>
                </a:solidFill>
                <a:latin typeface="Arial"/>
                <a:ea typeface="Arial"/>
                <a:cs typeface="Arial"/>
              </a:defRPr>
            </a:pPr>
            <a:r>
              <a:rPr sz="2025" b="0">
                <a:solidFill>
                  <a:srgbClr val="2563EB"/>
                </a:solidFill>
                <a:latin typeface="Arial"/>
                <a:ea typeface="Arial"/>
                <a:cs typeface="Arial"/>
              </a:rPr>
              <a:t>python -B -m bank_service web --port 8765</a:t>
            </a:r>
          </a:p>
          <a:p xmlns:a="http://schemas.openxmlformats.org/drawingml/2006/main">
            <a:pPr>
              <a:defRPr sz="2025" b="0">
                <a:solidFill>
                  <a:srgbClr val="2563EB"/>
                </a:solidFill>
                <a:latin typeface="Arial"/>
                <a:ea typeface="Arial"/>
                <a:cs typeface="Arial"/>
              </a:defRPr>
            </a:pPr>
            <a:r>
              <a:rPr sz="2025" b="0">
                <a:solidFill>
                  <a:srgbClr val="2563EB"/>
                </a:solidFill>
                <a:latin typeface="Arial"/>
                <a:ea typeface="Arial"/>
                <a:cs typeface="Arial"/>
              </a:rPr>
              <a:t>python -B -m unittest discover -s tests -q</a:t>
            </a:r>
          </a:p>
        </p:txBody>
      </p:sp>
      <p:sp>
        <p:nvSpPr>
          <p:cNvPr id="5" name="Inspect the evidence">
            <a:extLst xmlns:a="http://schemas.openxmlformats.org/drawingml/2006/main">
              <a:ext uri="{FF2B5EF4-FFF2-40B4-BE49-F238E27FC236}">
                <a16:creationId xmlns:a16="http://schemas.microsoft.com/office/drawing/2014/main" id="{3BFA8084-5AE8-4AD0-AF13-AF4F770C3A21}"/>
              </a:ext>
            </a:extLst>
          </p:cNvPr>
          <p:cNvSpPr>
            <a:spLocks xmlns:a="http://schemas.openxmlformats.org/drawingml/2006/main" noGrp="1"/>
          </p:cNvSpPr>
          <p:nvPr/>
        </p:nvSpPr>
        <p:spPr>
          <a:xfrm xmlns:a="http://schemas.openxmlformats.org/drawingml/2006/main">
            <a:off x="609600" y="26479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1827"/>
                </a:solidFill>
                <a:latin typeface="Arial"/>
                <a:ea typeface="Arial"/>
                <a:cs typeface="Arial"/>
              </a:defRPr>
            </a:pPr>
            <a:r>
              <a:rPr sz="2175" b="1">
                <a:solidFill>
                  <a:srgbClr val="111827"/>
                </a:solidFill>
                <a:latin typeface="Arial"/>
                <a:ea typeface="Arial"/>
                <a:cs typeface="Arial"/>
              </a:rPr>
              <a:t>Inspect the evidence</a:t>
            </a:r>
          </a:p>
        </p:txBody>
      </p:sp>
      <p:sp>
        <p:nvSpPr>
          <p:cNvPr id="6" name="Source audit and scope&#10;Frozen protocol and failed resul">
            <a:extLst xmlns:a="http://schemas.openxmlformats.org/drawingml/2006/main">
              <a:ext uri="{FF2B5EF4-FFF2-40B4-BE49-F238E27FC236}">
                <a16:creationId xmlns:a16="http://schemas.microsoft.com/office/drawing/2014/main" id="{E1E19844-4C2E-4B11-B020-38063A7AEAA4}"/>
              </a:ext>
            </a:extLst>
          </p:cNvPr>
          <p:cNvSpPr>
            <a:spLocks xmlns:a="http://schemas.openxmlformats.org/drawingml/2006/main" noGrp="1"/>
          </p:cNvSpPr>
          <p:nvPr/>
        </p:nvSpPr>
        <p:spPr>
          <a:xfrm xmlns:a="http://schemas.openxmlformats.org/drawingml/2006/main">
            <a:off x="609600" y="3181350"/>
            <a:ext cx="51435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6566A"/>
                </a:solidFill>
                <a:latin typeface="Arial"/>
                <a:ea typeface="Arial"/>
                <a:cs typeface="Arial"/>
              </a:defRPr>
            </a:pPr>
            <a:r>
              <a:rPr sz="1950" b="0">
                <a:solidFill>
                  <a:srgbClr val="46566A"/>
                </a:solidFill>
                <a:latin typeface="Arial"/>
                <a:ea typeface="Arial"/>
                <a:cs typeface="Arial"/>
              </a:rPr>
              <a:t>Source audit and scope</a:t>
            </a:r>
          </a:p>
          <a:p xmlns:a="http://schemas.openxmlformats.org/drawingml/2006/main">
            <a:pPr>
              <a:defRPr sz="1950" b="0">
                <a:solidFill>
                  <a:srgbClr val="46566A"/>
                </a:solidFill>
                <a:latin typeface="Arial"/>
                <a:ea typeface="Arial"/>
                <a:cs typeface="Arial"/>
              </a:defRPr>
            </a:pPr>
            <a:r>
              <a:rPr sz="1950" b="0">
                <a:solidFill>
                  <a:srgbClr val="46566A"/>
                </a:solidFill>
                <a:latin typeface="Arial"/>
                <a:ea typeface="Arial"/>
                <a:cs typeface="Arial"/>
              </a:rPr>
              <a:t>Frozen protocol and failed results</a:t>
            </a:r>
          </a:p>
          <a:p xmlns:a="http://schemas.openxmlformats.org/drawingml/2006/main">
            <a:pPr>
              <a:defRPr sz="1950" b="0">
                <a:solidFill>
                  <a:srgbClr val="46566A"/>
                </a:solidFill>
                <a:latin typeface="Arial"/>
                <a:ea typeface="Arial"/>
                <a:cs typeface="Arial"/>
              </a:defRPr>
            </a:pPr>
            <a:r>
              <a:rPr sz="1950" b="0">
                <a:solidFill>
                  <a:srgbClr val="46566A"/>
                </a:solidFill>
                <a:latin typeface="Arial"/>
                <a:ea typeface="Arial"/>
                <a:cs typeface="Arial"/>
              </a:rPr>
              <a:t>Current repairs and regression checks</a:t>
            </a:r>
          </a:p>
          <a:p xmlns:a="http://schemas.openxmlformats.org/drawingml/2006/main">
            <a:pPr>
              <a:defRPr sz="1950" b="0">
                <a:solidFill>
                  <a:srgbClr val="46566A"/>
                </a:solidFill>
                <a:latin typeface="Arial"/>
                <a:ea typeface="Arial"/>
                <a:cs typeface="Arial"/>
              </a:defRPr>
            </a:pPr>
            <a:r>
              <a:rPr sz="1950" b="0">
                <a:solidFill>
                  <a:srgbClr val="46566A"/>
                </a:solidFill>
                <a:latin typeface="Arial"/>
                <a:ea typeface="Arial"/>
                <a:cs typeface="Arial"/>
              </a:rPr>
              <a:t>Literal export and SHA-256 manifest</a:t>
            </a:r>
          </a:p>
        </p:txBody>
      </p:sp>
      <p:graphicFrame>
        <p:nvGraphicFramePr>
          <p:cNvPr id="15" name=""/>
          <p:cNvGraphicFramePr/>
          <p:nvPr/>
        </p:nvGraphicFramePr>
        <p:xfrm>
          <a:off xmlns:a="http://schemas.openxmlformats.org/drawingml/2006/main" x="6172200" y="2647950"/>
          <a:ext xmlns:a="http://schemas.openxmlformats.org/drawingml/2006/main" cx="5410200" cy="2343150"/>
        </p:xfrm>
        <a:graphic xmlns:a="http://schemas.openxmlformats.org/drawingml/2006/main">
          <a:graphicData uri="http://schemas.openxmlformats.org/drawingml/2006/table">
            <a:tbl>
              <a:tblPr firstRow="1" bandRow="0"/>
              <a:tblGrid>
                <a:gridCol w="2095500"/>
                <a:gridCol w="3314700"/>
              </a:tblGrid>
              <a:tr h="585788">
                <a:tc>
                  <a:txBody>
                    <a:bodyPr>
                      <a:noAutofit/>
                    </a:bodyPr>
                    <a:lstStyle/>
                    <a:p>
                      <a:r>
                        <a:rPr sz="1650" b="1">
                          <a:solidFill>
                            <a:srgbClr val="FFFFFF"/>
                          </a:solidFill>
                          <a:latin typeface="Arial"/>
                          <a:ea typeface="Arial"/>
                          <a:cs typeface="Arial"/>
                        </a:rPr>
                        <a:t>Submission access</a:t>
                      </a:r>
                    </a:p>
                  </a:txBody>
                  <a:tcPr marL="91440" marR="91440" marT="45720" marB="45720">
                    <a:solidFill>
                      <a:srgbClr val="111827"/>
                    </a:solidFill>
                  </a:tcPr>
                </a:tc>
                <a:tc>
                  <a:txBody>
                    <a:bodyPr>
                      <a:noAutofit/>
                    </a:bodyPr>
                    <a:lstStyle/>
                    <a:p>
                      <a:r>
                        <a:rPr sz="1650" b="1">
                          <a:solidFill>
                            <a:srgbClr val="FFFFFF"/>
                          </a:solidFill>
                          <a:latin typeface="Arial"/>
                          <a:ea typeface="Arial"/>
                          <a:cs typeface="Arial"/>
                        </a:rPr>
                        <a:t>Status</a:t>
                      </a:r>
                    </a:p>
                  </a:txBody>
                  <a:tcPr marL="91440" marR="91440" marT="45720" marB="45720">
                    <a:solidFill>
                      <a:srgbClr val="111827"/>
                    </a:solidFill>
                  </a:tcPr>
                </a:tc>
              </a:tr>
              <a:tr h="585788">
                <a:tc>
                  <a:txBody>
                    <a:bodyPr>
                      <a:noAutofit/>
                    </a:bodyPr>
                    <a:lstStyle/>
                    <a:p>
                      <a:r>
                        <a:rPr sz="1800" b="0">
                          <a:solidFill>
                            <a:srgbClr val="111827"/>
                          </a:solidFill>
                          <a:latin typeface="Arial"/>
                          <a:ea typeface="Arial"/>
                          <a:cs typeface="Arial"/>
                        </a:rPr>
                        <a:t>Public repository</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Pending owner publication</a:t>
                      </a:r>
                    </a:p>
                  </a:txBody>
                  <a:tcPr marL="91440" marR="91440" marT="45720" marB="45720">
                    <a:solidFill>
                      <a:srgbClr val="EFF4FC"/>
                    </a:solidFill>
                  </a:tcPr>
                </a:tc>
              </a:tr>
              <a:tr h="585788">
                <a:tc>
                  <a:txBody>
                    <a:bodyPr>
                      <a:noAutofit/>
                    </a:bodyPr>
                    <a:lstStyle/>
                    <a:p>
                      <a:r>
                        <a:rPr sz="1800" b="0">
                          <a:solidFill>
                            <a:srgbClr val="111827"/>
                          </a:solidFill>
                          <a:latin typeface="Arial"/>
                          <a:ea typeface="Arial"/>
                          <a:cs typeface="Arial"/>
                        </a:rPr>
                        <a:t>Hosted prototype</a:t>
                      </a:r>
                    </a:p>
                  </a:txBody>
                  <a:tcPr marL="91440" marR="91440" marT="45720" marB="45720">
                    <a:solidFill>
                      <a:srgbClr val="FFFFFF"/>
                    </a:solidFill>
                  </a:tcPr>
                </a:tc>
                <a:tc>
                  <a:txBody>
                    <a:bodyPr>
                      <a:noAutofit/>
                    </a:bodyPr>
                    <a:lstStyle/>
                    <a:p>
                      <a:r>
                        <a:rPr sz="1800" b="0">
                          <a:solidFill>
                            <a:srgbClr val="111827"/>
                          </a:solidFill>
                          <a:latin typeface="Arial"/>
                          <a:ea typeface="Arial"/>
                          <a:cs typeface="Arial"/>
                        </a:rPr>
                        <a:t>Prepared; deployment pending</a:t>
                      </a:r>
                    </a:p>
                  </a:txBody>
                  <a:tcPr marL="91440" marR="91440" marT="45720" marB="45720">
                    <a:solidFill>
                      <a:srgbClr val="FFFFFF"/>
                    </a:solidFill>
                  </a:tcPr>
                </a:tc>
              </a:tr>
              <a:tr h="585788">
                <a:tc>
                  <a:txBody>
                    <a:bodyPr>
                      <a:noAutofit/>
                    </a:bodyPr>
                    <a:lstStyle/>
                    <a:p>
                      <a:r>
                        <a:rPr sz="1800" b="0">
                          <a:solidFill>
                            <a:srgbClr val="111827"/>
                          </a:solidFill>
                          <a:latin typeface="Arial"/>
                          <a:ea typeface="Arial"/>
                          <a:cs typeface="Arial"/>
                        </a:rPr>
                        <a:t>Video ≤ 3 minutes</a:t>
                      </a:r>
                    </a:p>
                  </a:txBody>
                  <a:tcPr marL="91440" marR="91440" marT="45720" marB="45720">
                    <a:solidFill>
                      <a:srgbClr val="EFF4FC"/>
                    </a:solidFill>
                  </a:tcPr>
                </a:tc>
                <a:tc>
                  <a:txBody>
                    <a:bodyPr>
                      <a:noAutofit/>
                    </a:bodyPr>
                    <a:lstStyle/>
                    <a:p>
                      <a:r>
                        <a:rPr sz="1800" b="0">
                          <a:solidFill>
                            <a:srgbClr val="111827"/>
                          </a:solidFill>
                          <a:latin typeface="Arial"/>
                          <a:ea typeface="Arial"/>
                          <a:cs typeface="Arial"/>
                        </a:rPr>
                        <a:t>165-second script; not recorded</a:t>
                      </a:r>
                    </a:p>
                  </a:txBody>
                  <a:tcPr marL="91440" marR="91440" marT="45720" marB="45720">
                    <a:solidFill>
                      <a:srgbClr val="EFF4FC"/>
                    </a:solidFill>
                  </a:tcPr>
                </a:tc>
              </a:tr>
            </a:tbl>
          </a:graphicData>
        </a:graphic>
      </p:graphicFrame>
      <p:sp>
        <p:nvSpPr>
          <p:cNvPr id="8" name="Trusted demo identity; no production login. Receipts di">
            <a:extLst xmlns:a="http://schemas.openxmlformats.org/drawingml/2006/main">
              <a:ext uri="{FF2B5EF4-FFF2-40B4-BE49-F238E27FC236}">
                <a16:creationId xmlns:a16="http://schemas.microsoft.com/office/drawing/2014/main" id="{CC52226B-5326-4F5A-9AD9-FD7F58BAE1D8}"/>
              </a:ext>
            </a:extLst>
          </p:cNvPr>
          <p:cNvSpPr>
            <a:spLocks xmlns:a="http://schemas.openxmlformats.org/drawingml/2006/main" noGrp="1"/>
          </p:cNvSpPr>
          <p:nvPr/>
        </p:nvSpPr>
        <p:spPr>
          <a:xfrm xmlns:a="http://schemas.openxmlformats.org/drawingml/2006/main">
            <a:off x="609600" y="5295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Trusted demo identity; no production login. Receipts disappear on restart.</a:t>
            </a:r>
          </a:p>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Portuguese lacks fluent review. Guarded serving has no untouched post-repair score.</a:t>
            </a:r>
          </a:p>
          <a:p xmlns:a="http://schemas.openxmlformats.org/drawingml/2006/main">
            <a:pPr>
              <a:defRPr sz="1725" b="0">
                <a:solidFill>
                  <a:srgbClr val="46566A"/>
                </a:solidFill>
                <a:latin typeface="Arial"/>
                <a:ea typeface="Arial"/>
                <a:cs typeface="Arial"/>
              </a:defRPr>
            </a:pPr>
            <a:r>
              <a:rPr sz="1725" b="0">
                <a:solidFill>
                  <a:srgbClr val="46566A"/>
                </a:solidFill>
                <a:latin typeface="Arial"/>
                <a:ea typeface="Arial"/>
                <a:cs typeface="Arial"/>
              </a:rPr>
              <a:t>Docker image and real cloud HTTPS remain unverified.</a:t>
            </a:r>
          </a:p>
        </p:txBody>
      </p:sp>
    </p:spTree>
    <p:extLst>
      <p:ext uri="{BB962C8B-B14F-4D97-AF65-F5344CB8AC3E}">
        <p14:creationId xmlns:p14="http://schemas.microsoft.com/office/powerpoint/2010/main" val="486928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2026-10-05T04:15:41.3270000Z</dcterms:created>
  <dcterms:modified xsi:type="dcterms:W3CDTF">2026-10-05T04:15:41.3270000Z</dcterms:modified>
</coreProperties>
</file>